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9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92" r:id="rId33"/>
    <p:sldId id="289" r:id="rId34"/>
    <p:sldId id="290" r:id="rId35"/>
    <p:sldId id="291" r:id="rId36"/>
    <p:sldId id="293" r:id="rId37"/>
    <p:sldId id="294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C12D"/>
    <a:srgbClr val="3B83B3"/>
    <a:srgbClr val="7A8F5F"/>
    <a:srgbClr val="242331"/>
    <a:srgbClr val="343246"/>
    <a:srgbClr val="000D26"/>
    <a:srgbClr val="383642"/>
    <a:srgbClr val="0C53B0"/>
    <a:srgbClr val="11992C"/>
    <a:srgbClr val="A3A3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145665-0FE7-4B55-8A73-9A53BFC00F41}" v="105" dt="2026-02-20T21:49:15.721"/>
    <p1510:client id="{27CDB269-4F87-4F56-BCED-257634A4EE70}" v="235" dt="2026-02-20T15:48:05.808"/>
    <p1510:client id="{EA3A3CD0-F467-482D-8E80-D6137E8A5BAB}" v="1831" dt="2026-02-20T20:17:25.661"/>
    <p1510:client id="{F1C0E2A9-0222-4901-A8FD-C559CFF507FA}" v="659" dt="2026-02-21T17:19:41.354"/>
    <p1510:client id="{FE1A4CFB-B95C-4B43-B184-CDA3C7947B7A}" v="1036" dt="2026-02-21T14:20:22.8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125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806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89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693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390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97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940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017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126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16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097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9708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99" r:id="rId1"/>
    <p:sldLayoutId id="2147484500" r:id="rId2"/>
    <p:sldLayoutId id="2147484501" r:id="rId3"/>
    <p:sldLayoutId id="2147484502" r:id="rId4"/>
    <p:sldLayoutId id="2147484503" r:id="rId5"/>
    <p:sldLayoutId id="2147484504" r:id="rId6"/>
    <p:sldLayoutId id="2147484505" r:id="rId7"/>
    <p:sldLayoutId id="2147484506" r:id="rId8"/>
    <p:sldLayoutId id="2147484507" r:id="rId9"/>
    <p:sldLayoutId id="2147484508" r:id="rId10"/>
    <p:sldLayoutId id="214748450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6B392A6A-A621-4C0A-3D20-2C0DB41E73EC}"/>
              </a:ext>
            </a:extLst>
          </p:cNvPr>
          <p:cNvSpPr/>
          <p:nvPr/>
        </p:nvSpPr>
        <p:spPr>
          <a:xfrm>
            <a:off x="1614790" y="2568103"/>
            <a:ext cx="6799635" cy="1128408"/>
          </a:xfrm>
          <a:prstGeom prst="rect">
            <a:avLst/>
          </a:prstGeom>
          <a:solidFill>
            <a:srgbClr val="2423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CFD82E4-566A-2D95-80E7-F05611AD5EE7}"/>
              </a:ext>
            </a:extLst>
          </p:cNvPr>
          <p:cNvSpPr txBox="1">
            <a:spLocks/>
          </p:cNvSpPr>
          <p:nvPr/>
        </p:nvSpPr>
        <p:spPr>
          <a:xfrm>
            <a:off x="1614790" y="4522839"/>
            <a:ext cx="3725695" cy="138634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sz="3600" b="1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3502FA-0E40-E3F8-84D2-0B7C9D4FA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2930" y="601637"/>
            <a:ext cx="7398102" cy="973197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sz="28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Datathon</a:t>
            </a:r>
            <a:r>
              <a:rPr lang="pt-BR" sz="2800" b="1" cap="none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FIAP – </a:t>
            </a:r>
            <a:r>
              <a:rPr lang="pt-BR" sz="28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Associação</a:t>
            </a:r>
            <a:r>
              <a:rPr lang="pt-BR" sz="2800" b="1" cap="none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Passos Mágicos</a:t>
            </a:r>
            <a:endParaRPr lang="pt-BR" sz="2800" b="1" cap="none" dirty="0">
              <a:solidFill>
                <a:schemeClr val="tx1"/>
              </a:solidFill>
              <a:effectLst>
                <a:glow rad="38100">
                  <a:prstClr val="black">
                    <a:lumMod val="65000"/>
                    <a:lumOff val="35000"/>
                    <a:alpha val="50000"/>
                  </a:prst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  <a:latin typeface="Calibri"/>
              <a:ea typeface="Calibri"/>
              <a:cs typeface="Calibri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E2654A-6E81-8560-5C0D-E23DB94E8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732" y="3783469"/>
            <a:ext cx="5161280" cy="2247680"/>
          </a:xfrm>
        </p:spPr>
        <p:txBody>
          <a:bodyPr vert="horz" lIns="91440" tIns="0" rIns="91440" bIns="45720" rtlCol="0" anchor="ctr">
            <a:normAutofit/>
          </a:bodyPr>
          <a:lstStyle/>
          <a:p>
            <a:pPr algn="l"/>
            <a:endParaRPr lang="pt-BR" sz="2400" b="1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latin typeface="Calibri"/>
              <a:ea typeface="Calibri"/>
              <a:cs typeface="Calibri"/>
            </a:endParaRPr>
          </a:p>
          <a:p>
            <a:pPr algn="l"/>
            <a:r>
              <a:rPr lang="pt-BR" sz="20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latin typeface="Calibri"/>
                <a:ea typeface="Calibri"/>
                <a:cs typeface="Calibri"/>
              </a:rPr>
              <a:t>Aluno: Ricardo Pardono</a:t>
            </a:r>
          </a:p>
          <a:p>
            <a:pPr algn="l"/>
            <a:r>
              <a:rPr lang="pt-BR" sz="20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latin typeface="Calibri"/>
                <a:ea typeface="Calibri"/>
                <a:cs typeface="Calibri"/>
              </a:rPr>
              <a:t>Matrícula: rm365874</a:t>
            </a:r>
            <a:endParaRPr lang="pt-BR" sz="2000" b="1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Calibri"/>
              <a:ea typeface="Calibri"/>
              <a:cs typeface="Calibri"/>
            </a:endParaRPr>
          </a:p>
        </p:txBody>
      </p:sp>
      <p:pic>
        <p:nvPicPr>
          <p:cNvPr id="13" name="Imagem 12" descr="Texto&#10;&#10;O conteúdo gerado por IA pode estar incorreto.">
            <a:extLst>
              <a:ext uri="{FF2B5EF4-FFF2-40B4-BE49-F238E27FC236}">
                <a16:creationId xmlns:a16="http://schemas.microsoft.com/office/drawing/2014/main" id="{2AE0AD32-613F-00E4-D61B-C4F50B431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111" y="1042219"/>
            <a:ext cx="2407492" cy="1411886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81EE65CF-2F0B-1B41-17C1-1D0F042F6675}"/>
              </a:ext>
            </a:extLst>
          </p:cNvPr>
          <p:cNvSpPr txBox="1"/>
          <p:nvPr/>
        </p:nvSpPr>
        <p:spPr>
          <a:xfrm>
            <a:off x="1781490" y="2285393"/>
            <a:ext cx="6400982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endParaRPr lang="pt-BR" sz="2600" b="1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pt-BR" sz="2600" b="1" dirty="0">
                <a:solidFill>
                  <a:schemeClr val="bg2">
                    <a:lumMod val="25000"/>
                    <a:lumOff val="75000"/>
                  </a:schemeClr>
                </a:solidFill>
              </a:rPr>
              <a:t>Análise de Dados Educacionais e Predição de Risco de Defasagem</a:t>
            </a:r>
          </a:p>
          <a:p>
            <a:pPr algn="ctr"/>
            <a:endParaRPr lang="pt-BR" sz="2600" b="1" dirty="0">
              <a:solidFill>
                <a:schemeClr val="tx1">
                  <a:lumMod val="75000"/>
                </a:schemeClr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0913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224552-8CEB-B291-ADDB-FF299339A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8380F4-3409-BB54-2409-10AF2FBAB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967" y="658759"/>
            <a:ext cx="6419815" cy="727587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sz="28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Sobre a Associação Passos Mágicos</a:t>
            </a:r>
            <a:endParaRPr lang="pt-BR" sz="2800" b="1" cap="none" dirty="0">
              <a:solidFill>
                <a:schemeClr val="tx1"/>
              </a:solidFill>
              <a:effectLst>
                <a:glow rad="38100">
                  <a:prstClr val="black">
                    <a:lumMod val="65000"/>
                    <a:lumOff val="35000"/>
                    <a:alpha val="50000"/>
                  </a:prst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  <a:latin typeface="Calibri"/>
              <a:ea typeface="Calibri"/>
              <a:cs typeface="Calibri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8EF594-6A57-3EDD-940E-A8558B883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211" y="2142231"/>
            <a:ext cx="7538720" cy="4233333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b="1" dirty="0"/>
          </a:p>
          <a:p>
            <a:pPr algn="just"/>
            <a:r>
              <a:rPr lang="pt-BR" b="1" dirty="0"/>
              <a:t>A Associação Passos Mágicos atua há mais de 30 anos na transformação da vida de crianças e jovens em situação de vulnerabilidade social no município de Embu-Guaçu por meio da educação. </a:t>
            </a:r>
          </a:p>
          <a:p>
            <a:pPr algn="l"/>
            <a:r>
              <a:rPr lang="pt-BR" b="1" dirty="0"/>
              <a:t>Seu modelo vai além do ensino tradicional, incluindo:</a:t>
            </a:r>
          </a:p>
          <a:p>
            <a:pPr lvl="1" algn="l"/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• </a:t>
            </a:r>
            <a:r>
              <a:rPr lang="pt-BR" b="1" dirty="0"/>
              <a:t> Educação de qualidade;</a:t>
            </a:r>
            <a:br>
              <a:rPr lang="pt-BR" b="1" dirty="0"/>
            </a:b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• </a:t>
            </a:r>
            <a:r>
              <a:rPr lang="pt-BR" b="1" dirty="0"/>
              <a:t> Apoio psicológico e psicopedagógico;</a:t>
            </a:r>
            <a:br>
              <a:rPr lang="pt-BR" b="1" dirty="0"/>
            </a:b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•</a:t>
            </a:r>
            <a:r>
              <a:rPr lang="pt-BR" b="1" dirty="0"/>
              <a:t>  Desenvolvimento de protagonismo;</a:t>
            </a:r>
            <a:br>
              <a:rPr lang="pt-BR" b="1" dirty="0"/>
            </a:b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• </a:t>
            </a:r>
            <a:r>
              <a:rPr lang="pt-BR" b="1" dirty="0"/>
              <a:t> Ampliação da visão de mundo.</a:t>
            </a:r>
            <a:endParaRPr lang="pt-BR" b="1" dirty="0">
              <a:ea typeface="+mn-lt"/>
              <a:cs typeface="+mn-lt"/>
            </a:endParaRPr>
          </a:p>
          <a:p>
            <a:pPr marL="285750" indent="-285750" algn="l">
              <a:buFont typeface="Arial" panose="05000000000000000000" pitchFamily="2" charset="2"/>
              <a:buChar char="•"/>
            </a:pPr>
            <a:endParaRPr lang="pt-BR" dirty="0"/>
          </a:p>
          <a:p>
            <a:pPr algn="l"/>
            <a:endParaRPr lang="pt-BR" sz="20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9CF6726E-B709-B483-0839-A5279CE4B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8791" y="82050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4608F66-81F0-AC24-55EB-FCF5FE9E30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36" y="606319"/>
            <a:ext cx="1540924" cy="832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677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7C82E9-4B33-B503-8472-B685538C4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E0A7BE-9A94-DA33-124F-0B1C2C8F1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79043" y="718888"/>
            <a:ext cx="5565058" cy="680347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sz="36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pt-BR" sz="2800" b="1" dirty="0"/>
              <a:t>Desafio de Negócio</a:t>
            </a:r>
            <a:r>
              <a:rPr lang="pt-BR" sz="28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endParaRPr lang="pt-BR" sz="2800" b="1" cap="none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D72164-F771-D1FD-7C62-193F5D162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212" y="2045547"/>
            <a:ext cx="7538720" cy="3877733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ctr"/>
            <a:endParaRPr lang="pt-BR" sz="2000" dirty="0">
              <a:ea typeface="+mn-lt"/>
              <a:cs typeface="+mn-lt"/>
            </a:endParaRPr>
          </a:p>
          <a:p>
            <a:pPr algn="l"/>
            <a:r>
              <a:rPr lang="pt-BR" sz="2000" b="1" dirty="0"/>
              <a:t>     Com o crescimento do programa, surge um desafio</a:t>
            </a:r>
          </a:p>
          <a:p>
            <a:pPr algn="l"/>
            <a:r>
              <a:rPr lang="pt-BR" sz="2000" b="1" dirty="0"/>
              <a:t>     estratégico:</a:t>
            </a:r>
            <a:br>
              <a:rPr lang="pt-BR" sz="2000" b="1" dirty="0"/>
            </a:br>
            <a:br>
              <a:rPr lang="pt-BR" sz="2000" b="1" dirty="0"/>
            </a:br>
            <a:r>
              <a:rPr lang="pt-BR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</a:t>
            </a:r>
            <a:r>
              <a:rPr lang="pt-BR" sz="2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Como identificar, de forma antecipada, alunos em risco</a:t>
            </a:r>
          </a:p>
          <a:p>
            <a:pPr algn="l"/>
            <a:r>
              <a:rPr lang="pt-BR" sz="2000" b="1" i="1" dirty="0">
                <a:solidFill>
                  <a:schemeClr val="accent1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     </a:t>
            </a:r>
            <a:r>
              <a:rPr lang="pt-BR" sz="2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 defasagem educacional, para permitir intervenções</a:t>
            </a:r>
          </a:p>
          <a:p>
            <a:pPr algn="l"/>
            <a:r>
              <a:rPr lang="pt-BR" sz="2000" b="1" i="1" dirty="0">
                <a:solidFill>
                  <a:schemeClr val="accent1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     </a:t>
            </a:r>
            <a:r>
              <a:rPr lang="pt-BR" sz="2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mais rápidas e eficazes ?</a:t>
            </a:r>
          </a:p>
          <a:p>
            <a:pPr algn="l"/>
            <a:endParaRPr lang="pt-BR" sz="20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D5069DE6-47C6-007A-12CE-44EDF3E7A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111" y="972900"/>
            <a:ext cx="2407492" cy="148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439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AEBC41-2255-5326-37A4-911A044D1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4AEBBB-2B30-09C0-E039-EEB9CC4F8B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7816" y="659112"/>
            <a:ext cx="6007509" cy="599067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sz="2700" b="1" dirty="0"/>
              <a:t>Oportunidade com Dados</a:t>
            </a:r>
            <a:endParaRPr lang="pt-BR" b="1" dirty="0">
              <a:solidFill>
                <a:schemeClr val="tx1"/>
              </a:solidFill>
              <a:cs typeface="Arial" panose="020B0604020202020204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B90739-647A-3FED-86C1-B81347288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24" y="2035277"/>
            <a:ext cx="7256092" cy="3864077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marL="285750" indent="-285750" algn="just">
              <a:buFont typeface="Arial"/>
              <a:buChar char="•"/>
            </a:pPr>
            <a:endParaRPr lang="pt-BR" sz="1200" dirty="0">
              <a:cs typeface="Arial"/>
            </a:endParaRPr>
          </a:p>
          <a:p>
            <a:pPr algn="l"/>
            <a:r>
              <a:rPr lang="pt-BR" b="1" dirty="0"/>
              <a:t> A ONG dispõe de dados educacionais detalhados (2022–2024),</a:t>
            </a:r>
          </a:p>
          <a:p>
            <a:pPr algn="l"/>
            <a:r>
              <a:rPr lang="pt-BR" b="1" dirty="0"/>
              <a:t> contendo indicadores acadêmicos, comportamentais e</a:t>
            </a:r>
          </a:p>
          <a:p>
            <a:pPr algn="l"/>
            <a:r>
              <a:rPr lang="pt-BR" b="1" dirty="0"/>
              <a:t> psicossociais.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 </a:t>
            </a:r>
            <a:r>
              <a:rPr lang="pt-BR" b="1" dirty="0"/>
              <a:t>Esses dados permitem:</a:t>
            </a:r>
            <a:br>
              <a:rPr lang="pt-BR" b="1" dirty="0"/>
            </a:br>
            <a:r>
              <a:rPr lang="pt-BR" b="1" dirty="0"/>
              <a:t> </a:t>
            </a:r>
            <a:r>
              <a:rPr lang="pt-BR" b="1" dirty="0">
                <a:solidFill>
                  <a:srgbClr val="3B83B3"/>
                </a:solidFill>
              </a:rPr>
              <a:t>•</a:t>
            </a:r>
            <a:r>
              <a:rPr lang="pt-BR" b="1" dirty="0"/>
              <a:t>  Identificar padrões de desempenho;</a:t>
            </a:r>
            <a:br>
              <a:rPr lang="pt-BR" b="1" dirty="0"/>
            </a:br>
            <a:r>
              <a:rPr lang="pt-BR" b="1" dirty="0"/>
              <a:t> </a:t>
            </a:r>
            <a:r>
              <a:rPr lang="pt-BR" b="1" dirty="0">
                <a:solidFill>
                  <a:srgbClr val="3B83B3"/>
                </a:solidFill>
              </a:rPr>
              <a:t>• </a:t>
            </a:r>
            <a:r>
              <a:rPr lang="pt-BR" b="1" dirty="0"/>
              <a:t> Detectar fatores de risco;</a:t>
            </a:r>
            <a:br>
              <a:rPr lang="pt-BR" b="1" dirty="0"/>
            </a:br>
            <a:r>
              <a:rPr lang="pt-BR" b="1" dirty="0"/>
              <a:t> </a:t>
            </a:r>
            <a:r>
              <a:rPr lang="pt-BR" b="1" dirty="0">
                <a:solidFill>
                  <a:srgbClr val="3B83B3"/>
                </a:solidFill>
              </a:rPr>
              <a:t>• </a:t>
            </a:r>
            <a:r>
              <a:rPr lang="pt-BR" b="1" dirty="0"/>
              <a:t> Apoiar decisões com base em evidências.</a:t>
            </a:r>
            <a:endParaRPr lang="pt-BR" b="1" dirty="0">
              <a:solidFill>
                <a:srgbClr val="FFFFFF"/>
              </a:solidFill>
              <a:cs typeface="Arial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cs typeface="Arial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/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l">
              <a:buFont typeface="Arial" panose="05000000000000000000" pitchFamily="2" charset="2"/>
              <a:buChar char="•"/>
            </a:pPr>
            <a:endParaRPr lang="pt-BR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l"/>
            <a:endParaRPr lang="pt-BR" sz="20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6A15F1A9-3DA2-33CA-F799-2ADBE2547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111" y="972900"/>
            <a:ext cx="2407492" cy="148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752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1890C1-11A4-4321-DCB8-14D3F3907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432F7-D314-2FCE-D489-AD8B5DD598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5572" y="617615"/>
            <a:ext cx="4572000" cy="660027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sz="28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Objetivo do Projeto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5DBAF5-73B3-C550-2C4C-826AC5FB0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0039" y="1913468"/>
            <a:ext cx="7560893" cy="4212030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marL="285750" indent="-285750" algn="just">
              <a:buFont typeface="Arial"/>
              <a:buChar char="•"/>
            </a:pPr>
            <a:endParaRPr lang="pt-BR" sz="1600" b="1" dirty="0">
              <a:cs typeface="Arial"/>
            </a:endParaRPr>
          </a:p>
          <a:p>
            <a:pPr algn="just"/>
            <a:r>
              <a:rPr lang="pt-BR" sz="1600" b="1" dirty="0"/>
              <a:t>Este projeto tem como objetivo utilizar dados educacionais da ONG Passos Mágicos para:</a:t>
            </a:r>
          </a:p>
          <a:p>
            <a:pPr algn="just"/>
            <a:r>
              <a:rPr lang="pt-BR" sz="1600" b="1" dirty="0">
                <a:solidFill>
                  <a:srgbClr val="3B83B3"/>
                </a:solidFill>
              </a:rPr>
              <a:t>• </a:t>
            </a:r>
            <a:r>
              <a:rPr lang="pt-BR" sz="1600" b="1" dirty="0"/>
              <a:t> Analisar indicadores educacionais (</a:t>
            </a:r>
            <a:r>
              <a:rPr lang="pt-BR" sz="1600" b="1" dirty="0">
                <a:solidFill>
                  <a:schemeClr val="tx1">
                    <a:lumMod val="75000"/>
                  </a:schemeClr>
                </a:solidFill>
              </a:rPr>
              <a:t>IAN, IDA, IEG, IAA, IPS, IPP, IPV</a:t>
            </a:r>
            <a:r>
              <a:rPr lang="pt-BR" sz="1600" b="1" dirty="0"/>
              <a:t>);</a:t>
            </a:r>
          </a:p>
          <a:p>
            <a:pPr algn="just"/>
            <a:r>
              <a:rPr lang="pt-BR" sz="1600" b="1" dirty="0">
                <a:solidFill>
                  <a:srgbClr val="3B83B3"/>
                </a:solidFill>
              </a:rPr>
              <a:t>• </a:t>
            </a:r>
            <a:r>
              <a:rPr lang="pt-BR" sz="1600" b="1" dirty="0"/>
              <a:t> Avaliar o desempenho e evolução dos alunos ao longo do tempo;</a:t>
            </a:r>
          </a:p>
          <a:p>
            <a:pPr algn="just"/>
            <a:r>
              <a:rPr lang="pt-BR" sz="1600" b="1" dirty="0">
                <a:solidFill>
                  <a:srgbClr val="3B83B3"/>
                </a:solidFill>
              </a:rPr>
              <a:t>• </a:t>
            </a:r>
            <a:r>
              <a:rPr lang="pt-BR" sz="1600" b="1" dirty="0"/>
              <a:t> Identificar padrões associados à defasagem educacional;</a:t>
            </a:r>
          </a:p>
          <a:p>
            <a:pPr algn="just"/>
            <a:r>
              <a:rPr lang="pt-BR" sz="1600" b="1" dirty="0">
                <a:solidFill>
                  <a:srgbClr val="3B83B3"/>
                </a:solidFill>
              </a:rPr>
              <a:t>• </a:t>
            </a:r>
            <a:r>
              <a:rPr lang="pt-BR" sz="1600" b="1" dirty="0"/>
              <a:t> Gerar insights estratégicos para melhoria contínua do programa;</a:t>
            </a:r>
          </a:p>
          <a:p>
            <a:pPr algn="just"/>
            <a:r>
              <a:rPr lang="pt-BR" sz="1600" b="1" dirty="0">
                <a:solidFill>
                  <a:srgbClr val="3B83B3"/>
                </a:solidFill>
              </a:rPr>
              <a:t>• </a:t>
            </a:r>
            <a:r>
              <a:rPr lang="pt-BR" sz="1600" b="1" dirty="0"/>
              <a:t> Desenvolver um modelo preditivo capaz de antecipar alunos em risco; </a:t>
            </a:r>
          </a:p>
          <a:p>
            <a:pPr algn="just"/>
            <a:r>
              <a:rPr lang="pt-BR" sz="1600" b="1" dirty="0">
                <a:solidFill>
                  <a:srgbClr val="3B83B3"/>
                </a:solidFill>
              </a:rPr>
              <a:t>• </a:t>
            </a:r>
            <a:r>
              <a:rPr lang="pt-BR" sz="1600" b="1" dirty="0"/>
              <a:t> Construir uma ferramenta prática para uso operacional (Streamlit).</a:t>
            </a:r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cs typeface="Arial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/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l">
              <a:buFont typeface="Arial" panose="05000000000000000000" pitchFamily="2" charset="2"/>
              <a:buChar char="•"/>
            </a:pPr>
            <a:endParaRPr lang="pt-BR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l"/>
            <a:endParaRPr lang="pt-BR" sz="20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BCAF8DAE-1BAD-859B-1B14-9AA77EC0C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111" y="972900"/>
            <a:ext cx="2407492" cy="148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308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E5E58B-9606-9E74-8F46-2A71984B1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3B97C-617B-90A7-9CC8-39448C4FF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3046" y="510806"/>
            <a:ext cx="6055360" cy="660027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br>
              <a:rPr lang="pt-BR" sz="2800" b="1" dirty="0"/>
            </a:br>
            <a:r>
              <a:rPr lang="pt-BR" sz="2800" b="1" dirty="0"/>
              <a:t>Análise Exploratória dos Dados</a:t>
            </a:r>
            <a:br>
              <a:rPr lang="pt-BR" sz="2800" dirty="0"/>
            </a:br>
            <a:r>
              <a:rPr lang="pt-BR" sz="28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16BFD9-D01B-AE0B-19F8-EFCE16582F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5710" y="1581422"/>
            <a:ext cx="7030032" cy="4866967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l"/>
            <a:r>
              <a:rPr lang="pt-BR" b="1" dirty="0"/>
              <a:t>Para compreender o comportamento dos alunos e responder às principais dores de negócio da ONG, foi realizada uma análise exploratória dos dados educacionais.</a:t>
            </a:r>
            <a:br>
              <a:rPr lang="pt-BR" b="1" dirty="0"/>
            </a:br>
            <a:br>
              <a:rPr lang="pt-BR" b="1" dirty="0"/>
            </a:br>
            <a:r>
              <a:rPr lang="pt-BR" b="1" dirty="0"/>
              <a:t>A análise foi estruturada com base em perguntas estratégicas, abordando:</a:t>
            </a:r>
            <a:br>
              <a:rPr lang="pt-BR" b="1" dirty="0"/>
            </a:br>
            <a:r>
              <a:rPr lang="pt-BR" b="1" dirty="0">
                <a:solidFill>
                  <a:srgbClr val="0070C0"/>
                </a:solidFill>
              </a:rPr>
              <a:t>•</a:t>
            </a:r>
            <a:r>
              <a:rPr lang="pt-BR" b="1" dirty="0"/>
              <a:t>  Desempenho acadêmico;</a:t>
            </a:r>
            <a:br>
              <a:rPr lang="pt-BR" b="1" dirty="0"/>
            </a:br>
            <a:r>
              <a:rPr lang="pt-BR" b="1" dirty="0">
                <a:solidFill>
                  <a:srgbClr val="0070C0"/>
                </a:solidFill>
              </a:rPr>
              <a:t>• </a:t>
            </a:r>
            <a:r>
              <a:rPr lang="pt-BR" b="1" dirty="0"/>
              <a:t> Engajamento;</a:t>
            </a:r>
            <a:br>
              <a:rPr lang="pt-BR" b="1" dirty="0"/>
            </a:br>
            <a:r>
              <a:rPr lang="pt-BR" b="1" dirty="0">
                <a:solidFill>
                  <a:srgbClr val="0070C0"/>
                </a:solidFill>
              </a:rPr>
              <a:t>•</a:t>
            </a:r>
            <a:r>
              <a:rPr lang="pt-BR" b="1" dirty="0"/>
              <a:t>  Aspectos psicossociais;</a:t>
            </a:r>
            <a:br>
              <a:rPr lang="pt-BR" b="1" dirty="0"/>
            </a:br>
            <a:r>
              <a:rPr lang="pt-BR" b="1" dirty="0">
                <a:solidFill>
                  <a:srgbClr val="0070C0"/>
                </a:solidFill>
              </a:rPr>
              <a:t>•</a:t>
            </a:r>
            <a:r>
              <a:rPr lang="pt-BR" b="1" dirty="0"/>
              <a:t>  Evolução ao longo do tempo.</a:t>
            </a:r>
            <a:br>
              <a:rPr lang="pt-BR" b="1" dirty="0"/>
            </a:br>
            <a:br>
              <a:rPr lang="pt-BR" b="1" dirty="0"/>
            </a:br>
            <a:r>
              <a:rPr lang="pt-BR" b="1" dirty="0"/>
              <a:t>A seguir, apresentamos os principais resultados.</a:t>
            </a:r>
            <a:endParaRPr lang="pt-BR" b="1" dirty="0">
              <a:ea typeface="+mn-lt"/>
              <a:cs typeface="+mn-lt"/>
            </a:endParaRPr>
          </a:p>
          <a:p>
            <a:pPr marL="285750" indent="-285750" algn="just">
              <a:buFont typeface="Arial" panose="05000000000000000000" pitchFamily="2" charset="2"/>
              <a:buChar char="•"/>
            </a:pPr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/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l">
              <a:buFont typeface="Arial" panose="05000000000000000000" pitchFamily="2" charset="2"/>
              <a:buChar char="•"/>
            </a:pPr>
            <a:endParaRPr lang="pt-BR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l"/>
            <a:endParaRPr lang="pt-BR" sz="20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8A580437-5711-03A8-4CEB-6C4613411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185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4A19EB-C44F-8175-65EB-5D8BB87D7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E5D5B-6DC8-0DCC-FA5D-397831B17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5190" y="422714"/>
            <a:ext cx="7030032" cy="701236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pt-BR" sz="2400" b="1" dirty="0"/>
            </a:br>
            <a:r>
              <a:rPr lang="pt-BR" sz="2000" b="1" dirty="0"/>
              <a:t>Perfil Geral de Defasagem dos Alunos (IAN)</a:t>
            </a:r>
            <a:br>
              <a:rPr lang="pt-BR" sz="2000" dirty="0"/>
            </a:br>
            <a:r>
              <a:rPr lang="pt-BR" sz="2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</a:t>
            </a:r>
            <a:endParaRPr lang="pt-BR" sz="4800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830CFA-38B3-53F6-2D91-44950A89A0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4772" y="1581422"/>
            <a:ext cx="7609114" cy="5143843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marL="285750" indent="-285750" algn="just">
              <a:buFont typeface="Arial" panose="05000000000000000000" pitchFamily="2" charset="2"/>
              <a:buChar char="•"/>
            </a:pPr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/>
            <a:r>
              <a:rPr lang="pt-BR" sz="1300" b="1" dirty="0">
                <a:highlight>
                  <a:srgbClr val="282A2C"/>
                </a:highlight>
              </a:rPr>
              <a:t>A análise do IAN entre 2022 e 2024 indica que a maior parte dos alunos apresenta algum nível de defasagem, evidenciando a necessidade de melhoria no desempenho educacional.</a:t>
            </a:r>
            <a:br>
              <a:rPr lang="pt-BR" sz="1300" b="1" dirty="0">
                <a:highlight>
                  <a:srgbClr val="282A2C"/>
                </a:highlight>
              </a:rPr>
            </a:br>
            <a:br>
              <a:rPr lang="pt-BR" sz="1300" b="1" dirty="0">
                <a:highlight>
                  <a:srgbClr val="282A2C"/>
                </a:highlight>
              </a:rPr>
            </a:br>
            <a:r>
              <a:rPr lang="pt-BR" sz="1300" b="1" dirty="0">
                <a:solidFill>
                  <a:srgbClr val="0070C0"/>
                </a:solidFill>
                <a:highlight>
                  <a:srgbClr val="282A2C"/>
                </a:highlight>
              </a:rPr>
              <a:t>• </a:t>
            </a:r>
            <a:r>
              <a:rPr lang="pt-BR" sz="1300" b="1" dirty="0">
                <a:highlight>
                  <a:srgbClr val="282A2C"/>
                </a:highlight>
              </a:rPr>
              <a:t> 54% (1.642 alunos) estão em defasagem moderada (IAN = 5.0) ;</a:t>
            </a:r>
            <a:br>
              <a:rPr lang="pt-BR" sz="1300" b="1" dirty="0">
                <a:highlight>
                  <a:srgbClr val="282A2C"/>
                </a:highlight>
              </a:rPr>
            </a:br>
            <a:r>
              <a:rPr lang="pt-BR" sz="1300" b="1" dirty="0">
                <a:solidFill>
                  <a:srgbClr val="0070C0"/>
                </a:solidFill>
                <a:highlight>
                  <a:srgbClr val="282A2C"/>
                </a:highlight>
              </a:rPr>
              <a:t>• </a:t>
            </a:r>
            <a:r>
              <a:rPr lang="pt-BR" sz="1300" b="1" dirty="0">
                <a:highlight>
                  <a:srgbClr val="282A2C"/>
                </a:highlight>
              </a:rPr>
              <a:t> 44% (1.343 alunos) apresentam nível adequado (IAN = 10.0) ;</a:t>
            </a:r>
            <a:br>
              <a:rPr lang="pt-BR" sz="1300" b="1" dirty="0">
                <a:highlight>
                  <a:srgbClr val="282A2C"/>
                </a:highlight>
              </a:rPr>
            </a:br>
            <a:r>
              <a:rPr lang="pt-BR" sz="1300" b="1" dirty="0">
                <a:solidFill>
                  <a:srgbClr val="0070C0"/>
                </a:solidFill>
                <a:highlight>
                  <a:srgbClr val="282A2C"/>
                </a:highlight>
              </a:rPr>
              <a:t>• </a:t>
            </a:r>
            <a:r>
              <a:rPr lang="pt-BR" sz="1300" b="1" dirty="0">
                <a:highlight>
                  <a:srgbClr val="282A2C"/>
                </a:highlight>
              </a:rPr>
              <a:t> Apenas 1,5% (45 alunos) estão em defasagem severa (IAN = 2.5).</a:t>
            </a:r>
            <a:endParaRPr lang="pt-BR" sz="1300" b="1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/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l">
              <a:buFont typeface="Arial" panose="05000000000000000000" pitchFamily="2" charset="2"/>
              <a:buChar char="•"/>
            </a:pPr>
            <a:endParaRPr lang="pt-BR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l"/>
            <a:endParaRPr lang="pt-BR" sz="20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4849B8D2-E973-6C06-A338-6BB01926C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FF9C087-E404-522A-2F3C-1F160C75E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769" y="1838816"/>
            <a:ext cx="5527119" cy="288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947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7F16EC-A798-89D0-5F4D-1F24BA5B1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63EA10-9997-0FF4-ED6B-E8F6751AC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5190" y="422714"/>
            <a:ext cx="7030032" cy="701236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pt-BR" sz="2400" b="1" dirty="0"/>
            </a:br>
            <a:r>
              <a:rPr lang="pt-BR" sz="2000" b="1" dirty="0"/>
              <a:t>Evolução da Defasagem ao Longo do Tempo</a:t>
            </a:r>
            <a:br>
              <a:rPr lang="pt-BR" sz="2000" b="1" dirty="0"/>
            </a:br>
            <a:r>
              <a:rPr lang="pt-BR" sz="2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</a:t>
            </a:r>
            <a:endParaRPr lang="pt-BR" sz="48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07FE89-EF90-F322-A49D-0978AF8E75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4772" y="1581422"/>
            <a:ext cx="7609114" cy="5143843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marL="285750" indent="-285750" algn="just">
              <a:buFont typeface="Arial" panose="05000000000000000000" pitchFamily="2" charset="2"/>
              <a:buChar char="•"/>
            </a:pPr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just"/>
            <a:r>
              <a:rPr lang="pt-BR" sz="1400" b="1" dirty="0">
                <a:highlight>
                  <a:srgbClr val="282A2C"/>
                </a:highlight>
                <a:ea typeface="+mn-lt"/>
                <a:cs typeface="+mn-lt"/>
              </a:rPr>
              <a:t> Observa-se uma melhora consistente do IAN ao longo dos anos:</a:t>
            </a:r>
          </a:p>
          <a:p>
            <a:pPr algn="just"/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  <a:ea typeface="+mn-lt"/>
                <a:cs typeface="+mn-lt"/>
              </a:rPr>
              <a:t>•</a:t>
            </a:r>
            <a:r>
              <a:rPr lang="pt-BR" sz="1400" b="1" dirty="0">
                <a:highlight>
                  <a:srgbClr val="282A2C"/>
                </a:highlight>
                <a:ea typeface="+mn-lt"/>
                <a:cs typeface="+mn-lt"/>
              </a:rPr>
              <a:t>  A quantidade de alunos com IAN = 10.0 aumentou significativamente;</a:t>
            </a:r>
          </a:p>
          <a:p>
            <a:pPr algn="just"/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  <a:ea typeface="+mn-lt"/>
                <a:cs typeface="+mn-lt"/>
              </a:rPr>
              <a:t>•  </a:t>
            </a:r>
            <a:r>
              <a:rPr lang="pt-BR" sz="1400" b="1" dirty="0">
                <a:highlight>
                  <a:srgbClr val="282A2C"/>
                </a:highlight>
                <a:ea typeface="+mn-lt"/>
                <a:cs typeface="+mn-lt"/>
              </a:rPr>
              <a:t>Houve redução expressiva dos casos mais críticos (IAN = 2.5);</a:t>
            </a:r>
          </a:p>
          <a:p>
            <a:pPr algn="just"/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  <a:ea typeface="+mn-lt"/>
                <a:cs typeface="+mn-lt"/>
              </a:rPr>
              <a:t>•  </a:t>
            </a:r>
            <a:r>
              <a:rPr lang="pt-BR" sz="1400" b="1" dirty="0">
                <a:highlight>
                  <a:srgbClr val="282A2C"/>
                </a:highlight>
                <a:ea typeface="+mn-lt"/>
                <a:cs typeface="+mn-lt"/>
              </a:rPr>
              <a:t>O grupo intermediário manteve-se relativamente estável.</a:t>
            </a: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/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l">
              <a:buFont typeface="Arial" panose="05000000000000000000" pitchFamily="2" charset="2"/>
              <a:buChar char="•"/>
            </a:pPr>
            <a:endParaRPr lang="pt-BR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l"/>
            <a:endParaRPr lang="pt-BR" sz="20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B5261919-4A87-48DC-F84E-834B15CAD4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A3C89D7-8E16-E36B-F32B-9E6FE11BF1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952" y="1768237"/>
            <a:ext cx="5545377" cy="299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904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B0D29C-AC72-770B-2884-66969F8B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F2CB5-038D-1D24-EAA7-58E88A46D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7930" y="455825"/>
            <a:ext cx="6282797" cy="701236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pt-BR" sz="2400" b="1" dirty="0"/>
            </a:br>
            <a:r>
              <a:rPr lang="pt-BR" sz="2000" b="1" dirty="0"/>
              <a:t>Distribuição do IAN por Ano</a:t>
            </a:r>
            <a:br>
              <a:rPr lang="pt-BR" sz="2000" b="1" dirty="0"/>
            </a:br>
            <a:r>
              <a:rPr lang="pt-BR" sz="2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</a:t>
            </a:r>
            <a:endParaRPr lang="pt-BR" sz="48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C2BBC6-4215-B849-C5D2-C4488963A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4772" y="1581422"/>
            <a:ext cx="7609114" cy="5143843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marL="285750" indent="-285750" algn="just">
              <a:buFont typeface="Arial" panose="05000000000000000000" pitchFamily="2" charset="2"/>
              <a:buChar char="•"/>
            </a:pPr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r>
              <a:rPr lang="pt-BR" sz="1400" b="1" dirty="0">
                <a:highlight>
                  <a:srgbClr val="282A2C"/>
                </a:highlight>
              </a:rPr>
              <a:t>A análise por ano reforça a tendência de evolução:</a:t>
            </a:r>
          </a:p>
          <a:p>
            <a:pPr algn="l">
              <a:lnSpc>
                <a:spcPct val="150000"/>
              </a:lnSpc>
            </a:pPr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</a:rPr>
              <a:t>•</a:t>
            </a:r>
            <a:r>
              <a:rPr lang="pt-BR" sz="1400" b="1" dirty="0">
                <a:highlight>
                  <a:srgbClr val="282A2C"/>
                </a:highlight>
              </a:rPr>
              <a:t>  Em 2022, predominavam alunos com IAN intermediário;</a:t>
            </a:r>
            <a:br>
              <a:rPr lang="pt-BR" sz="1400" b="1" dirty="0">
                <a:highlight>
                  <a:srgbClr val="282A2C"/>
                </a:highlight>
              </a:rPr>
            </a:br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</a:rPr>
              <a:t>• </a:t>
            </a:r>
            <a:r>
              <a:rPr lang="pt-BR" sz="1400" b="1" dirty="0">
                <a:highlight>
                  <a:srgbClr val="282A2C"/>
                </a:highlight>
              </a:rPr>
              <a:t> Em 2024, observa-se maior concentração em níveis adequados;</a:t>
            </a:r>
            <a:br>
              <a:rPr lang="pt-BR" sz="1400" b="1" dirty="0">
                <a:highlight>
                  <a:srgbClr val="282A2C"/>
                </a:highlight>
              </a:rPr>
            </a:br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</a:rPr>
              <a:t>• </a:t>
            </a:r>
            <a:r>
              <a:rPr lang="pt-BR" sz="1400" b="1" dirty="0">
                <a:highlight>
                  <a:srgbClr val="282A2C"/>
                </a:highlight>
              </a:rPr>
              <a:t> Casos críticos tornam-se cada vez menos frequentes.</a:t>
            </a:r>
            <a:endParaRPr lang="pt-BR" sz="1600" b="1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/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l">
              <a:buFont typeface="Arial" panose="05000000000000000000" pitchFamily="2" charset="2"/>
              <a:buChar char="•"/>
            </a:pPr>
            <a:endParaRPr lang="pt-BR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l"/>
            <a:endParaRPr lang="pt-BR" sz="20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A274EC89-3B60-336B-7C9C-F1905B68BB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4F31DCB-EDB8-5A5E-3DF7-3662FBC03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589" y="1845842"/>
            <a:ext cx="5377477" cy="286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217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868AA-8AA8-557F-5554-8CC002C72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B80A8-B6C8-3CEE-B1D0-58A1977F6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7307" y="451436"/>
            <a:ext cx="6744043" cy="701236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pt-BR" sz="2000" b="1" dirty="0"/>
            </a:br>
            <a:r>
              <a:rPr lang="pt-BR" sz="1800" b="1" dirty="0"/>
              <a:t>Evolução do Indicador de Desempenho Acadêmico (IDA)</a:t>
            </a:r>
            <a:br>
              <a:rPr lang="pt-BR" sz="1800" b="1" dirty="0"/>
            </a:br>
            <a:r>
              <a:rPr lang="pt-BR" sz="20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</a:t>
            </a:r>
            <a:endParaRPr lang="pt-BR" sz="44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E68396-2762-D52A-CC70-8F4130C09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4772" y="1581422"/>
            <a:ext cx="7609114" cy="5143843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marL="285750" indent="-285750" algn="just">
              <a:buFont typeface="Arial" panose="05000000000000000000" pitchFamily="2" charset="2"/>
              <a:buChar char="•"/>
            </a:pPr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r>
              <a:rPr lang="pt-BR" sz="1400" b="1" dirty="0">
                <a:highlight>
                  <a:srgbClr val="282A2C"/>
                </a:highlight>
              </a:rPr>
              <a:t>A análise do desempenho acadêmico médio indica uma melhora inicial, seguida de leve retração:</a:t>
            </a:r>
            <a:br>
              <a:rPr lang="pt-BR" sz="1400" b="1" dirty="0">
                <a:highlight>
                  <a:srgbClr val="282A2C"/>
                </a:highlight>
              </a:rPr>
            </a:br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</a:rPr>
              <a:t>•</a:t>
            </a:r>
            <a:r>
              <a:rPr lang="pt-BR" sz="1400" b="1" dirty="0">
                <a:highlight>
                  <a:srgbClr val="282A2C"/>
                </a:highlight>
              </a:rPr>
              <a:t>  O IDA médio cresce de 6,1 em 2022 para 6,66 em 2023;</a:t>
            </a:r>
            <a:br>
              <a:rPr lang="pt-BR" sz="1400" b="1" dirty="0">
                <a:highlight>
                  <a:srgbClr val="282A2C"/>
                </a:highlight>
              </a:rPr>
            </a:br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</a:rPr>
              <a:t>•</a:t>
            </a:r>
            <a:r>
              <a:rPr lang="pt-BR" sz="1400" b="1" dirty="0">
                <a:highlight>
                  <a:srgbClr val="282A2C"/>
                </a:highlight>
              </a:rPr>
              <a:t>  Em 2024, observa-se leve queda para aproximadamente 6,35.</a:t>
            </a:r>
            <a:endParaRPr lang="pt-BR" sz="1400" b="1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/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l">
              <a:buFont typeface="Arial" panose="05000000000000000000" pitchFamily="2" charset="2"/>
              <a:buChar char="•"/>
            </a:pPr>
            <a:endParaRPr lang="pt-BR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l"/>
            <a:endParaRPr lang="pt-BR" sz="20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E8EA5D74-451E-B484-4C85-69994D2B9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7F6FDA1-CBC3-1E9A-FD48-3B43C8CD2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683" y="1818967"/>
            <a:ext cx="5293289" cy="277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370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8F1822-E141-024F-F8FE-874362E8C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C83FE4-4BB7-54C2-06C7-3388628F3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7307" y="451436"/>
            <a:ext cx="6744043" cy="701236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pt-BR" sz="2000" b="1" dirty="0"/>
            </a:br>
            <a:r>
              <a:rPr lang="pt-BR" sz="1800" b="1" dirty="0"/>
              <a:t>Distribuição do Desempenho Acadêmico (IDA)</a:t>
            </a:r>
            <a:br>
              <a:rPr lang="pt-BR" sz="1800" b="1" dirty="0"/>
            </a:br>
            <a:r>
              <a:rPr lang="pt-BR" sz="20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</a:t>
            </a:r>
            <a:endParaRPr lang="pt-BR" sz="44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D5300D-C1F3-90B9-C631-FA8803395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4772" y="1581422"/>
            <a:ext cx="7609114" cy="5143843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marL="285750" indent="-285750" algn="just">
              <a:buFont typeface="Arial" panose="05000000000000000000" pitchFamily="2" charset="2"/>
              <a:buChar char="•"/>
            </a:pPr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r>
              <a:rPr lang="pt-BR" sz="1200" b="1" dirty="0">
                <a:highlight>
                  <a:srgbClr val="282A2C"/>
                </a:highlight>
              </a:rPr>
              <a:t>A análise da distribuição do IDA revela mudanças importantes ao longo do tempo:</a:t>
            </a:r>
            <a:br>
              <a:rPr lang="pt-BR" sz="1200" b="1" dirty="0">
                <a:highlight>
                  <a:srgbClr val="282A2C"/>
                </a:highlight>
              </a:rPr>
            </a:br>
            <a:r>
              <a:rPr lang="pt-BR" sz="1200" b="1" dirty="0">
                <a:solidFill>
                  <a:srgbClr val="0070C0"/>
                </a:solidFill>
                <a:highlight>
                  <a:srgbClr val="282A2C"/>
                </a:highlight>
              </a:rPr>
              <a:t>• </a:t>
            </a:r>
            <a:r>
              <a:rPr lang="pt-BR" sz="1200" b="1" dirty="0">
                <a:highlight>
                  <a:srgbClr val="282A2C"/>
                </a:highlight>
              </a:rPr>
              <a:t> Em 2023, observa-se aumento da mediana do desempenho acadêmico em relação a 2022;</a:t>
            </a:r>
            <a:br>
              <a:rPr lang="pt-BR" sz="1200" b="1" dirty="0">
                <a:highlight>
                  <a:srgbClr val="282A2C"/>
                </a:highlight>
              </a:rPr>
            </a:br>
            <a:r>
              <a:rPr lang="pt-BR" sz="1200" b="1" dirty="0">
                <a:solidFill>
                  <a:srgbClr val="0070C0"/>
                </a:solidFill>
                <a:highlight>
                  <a:srgbClr val="282A2C"/>
                </a:highlight>
              </a:rPr>
              <a:t>•</a:t>
            </a:r>
            <a:r>
              <a:rPr lang="pt-BR" sz="1200" b="1" dirty="0">
                <a:highlight>
                  <a:srgbClr val="282A2C"/>
                </a:highlight>
              </a:rPr>
              <a:t>  Em 2024, o desempenho se mantém próximo, porém com leve retração;</a:t>
            </a:r>
            <a:br>
              <a:rPr lang="pt-BR" sz="1200" b="1" dirty="0">
                <a:highlight>
                  <a:srgbClr val="282A2C"/>
                </a:highlight>
              </a:rPr>
            </a:br>
            <a:r>
              <a:rPr lang="pt-BR" sz="1200" b="1" dirty="0">
                <a:solidFill>
                  <a:srgbClr val="0070C0"/>
                </a:solidFill>
                <a:highlight>
                  <a:srgbClr val="282A2C"/>
                </a:highlight>
              </a:rPr>
              <a:t>• </a:t>
            </a:r>
            <a:r>
              <a:rPr lang="pt-BR" sz="1200" b="1" dirty="0">
                <a:highlight>
                  <a:srgbClr val="282A2C"/>
                </a:highlight>
              </a:rPr>
              <a:t> A dispersão dos dados permanece elevada em todos os anos, indicando heterogeneidade entre os  </a:t>
            </a:r>
            <a:r>
              <a:rPr lang="pt-BR" sz="1200" b="1" dirty="0">
                <a:solidFill>
                  <a:schemeClr val="bg1"/>
                </a:solidFill>
                <a:highlight>
                  <a:srgbClr val="282A2C"/>
                </a:highlight>
              </a:rPr>
              <a:t>a</a:t>
            </a:r>
            <a:r>
              <a:rPr lang="pt-BR" sz="1200" b="1" dirty="0">
                <a:highlight>
                  <a:srgbClr val="282A2C"/>
                </a:highlight>
              </a:rPr>
              <a:t>alunos;</a:t>
            </a:r>
            <a:br>
              <a:rPr lang="pt-BR" sz="1200" b="1" dirty="0">
                <a:highlight>
                  <a:srgbClr val="282A2C"/>
                </a:highlight>
              </a:rPr>
            </a:br>
            <a:r>
              <a:rPr lang="pt-BR" sz="1200" b="1" dirty="0">
                <a:solidFill>
                  <a:srgbClr val="0070C0"/>
                </a:solidFill>
                <a:highlight>
                  <a:srgbClr val="282A2C"/>
                </a:highlight>
              </a:rPr>
              <a:t>•</a:t>
            </a:r>
            <a:r>
              <a:rPr lang="pt-BR" sz="1200" b="1" dirty="0">
                <a:highlight>
                  <a:srgbClr val="282A2C"/>
                </a:highlight>
              </a:rPr>
              <a:t>  A presença de valores baixos (outliers) persiste ao longo do período analisado.</a:t>
            </a:r>
            <a:endParaRPr lang="pt-BR" sz="1200" b="1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/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l">
              <a:buFont typeface="Arial" panose="05000000000000000000" pitchFamily="2" charset="2"/>
              <a:buChar char="•"/>
            </a:pPr>
            <a:endParaRPr lang="pt-BR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l"/>
            <a:endParaRPr lang="pt-BR" sz="20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D323B8A6-C341-3E01-C949-C3374575D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E151C67-C790-A7D5-5C22-71A14006B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205" y="1691148"/>
            <a:ext cx="5008245" cy="268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905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A453E-4324-6DE0-4982-97AD0D188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9CF0DF-4ED4-E8AA-7A95-1ACA8C9D73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710" y="392805"/>
            <a:ext cx="6463389" cy="62028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2000" b="1" dirty="0"/>
              <a:t>Desempenho Acadêmico por Fase</a:t>
            </a:r>
            <a:endParaRPr lang="pt-BR" sz="20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9766A5-1DC6-EBA1-8253-9D44A5497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209368"/>
            <a:ext cx="7841577" cy="5648632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marL="285750" indent="-285750" algn="just">
              <a:buFont typeface="Arial" panose="05000000000000000000" pitchFamily="2" charset="2"/>
              <a:buChar char="•"/>
            </a:pPr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b="1" dirty="0"/>
          </a:p>
          <a:p>
            <a:pPr algn="l">
              <a:lnSpc>
                <a:spcPct val="150000"/>
              </a:lnSpc>
            </a:pPr>
            <a:r>
              <a:rPr lang="pt-BR" sz="1200" b="1" dirty="0"/>
              <a:t>A análise do desempenho acadêmico por fase evidencia comportamentos distintos ao longo do tempo: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</a:t>
            </a:r>
            <a:r>
              <a:rPr lang="pt-BR" sz="1200" b="1" dirty="0"/>
              <a:t>  Algumas fases apresentam evolução consistente entre 2022 e 2023;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</a:t>
            </a:r>
            <a:r>
              <a:rPr lang="pt-BR" sz="1200" b="1" dirty="0"/>
              <a:t>  Em 2024, observa-se instabilidade em diversas fases, com quedas em parte dos grupos;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</a:t>
            </a:r>
            <a:r>
              <a:rPr lang="pt-BR" sz="1200" b="1" dirty="0"/>
              <a:t>  Fases mais avançadas tendem a apresentar maior variabilidade no desempenho;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  </a:t>
            </a:r>
            <a:r>
              <a:rPr lang="pt-BR" sz="1200" b="1" dirty="0"/>
              <a:t>A evolução do desempenho acadêmico não ocorre de forma uniforme entre as fases. Isso indica que o         </a:t>
            </a:r>
            <a:r>
              <a:rPr lang="pt-BR" sz="1200" b="1" dirty="0">
                <a:solidFill>
                  <a:schemeClr val="bg1"/>
                </a:solidFill>
              </a:rPr>
              <a:t>r </a:t>
            </a:r>
            <a:r>
              <a:rPr lang="pt-BR" sz="1200" b="1" dirty="0"/>
              <a:t>programa gera progresso, mas com intensidades diferentes ao longo da jornada, sugerindo a </a:t>
            </a:r>
            <a:r>
              <a:rPr lang="pt-BR" sz="1200" b="1" dirty="0">
                <a:solidFill>
                  <a:schemeClr val="bg1"/>
                </a:solidFill>
              </a:rPr>
              <a:t>n</a:t>
            </a:r>
            <a:r>
              <a:rPr lang="pt-BR" sz="1200" b="1" dirty="0"/>
              <a:t>necessidade de acompanhamento pedagógico mais direcionado por etapa</a:t>
            </a:r>
            <a:r>
              <a:rPr lang="pt-BR" sz="1200" dirty="0"/>
              <a:t>.</a:t>
            </a:r>
            <a:endParaRPr lang="pt-BR" sz="1200" b="1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l">
              <a:buFont typeface="Arial" panose="05000000000000000000" pitchFamily="2" charset="2"/>
              <a:buChar char="•"/>
            </a:pPr>
            <a:endParaRPr lang="pt-BR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l"/>
            <a:endParaRPr lang="pt-BR" sz="20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AEDA6CF3-1308-CF23-C0E2-A5C415186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0D90A17-E477-2205-F915-2999815BC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978" y="1414274"/>
            <a:ext cx="5928852" cy="302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645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B1B81-A946-178F-B8EA-01854E111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BF6276-9ACF-A52D-0044-A40EA7DD9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2441" y="471949"/>
            <a:ext cx="7453290" cy="550606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pt-BR" sz="1800" b="1" dirty="0"/>
            </a:br>
            <a:r>
              <a:rPr lang="pt-BR" sz="1800" b="1" dirty="0"/>
              <a:t>Impacto do Engajamento no Desempenho Acadêmico (IEG vs IDA)</a:t>
            </a:r>
            <a:br>
              <a:rPr lang="pt-BR" sz="2000" dirty="0"/>
            </a:br>
            <a:endParaRPr lang="pt-BR" sz="20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BC2B24-5497-D864-0A9B-0913BE9DE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6" y="1316038"/>
            <a:ext cx="7792415" cy="5409228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marL="285750" indent="-285750" algn="just">
              <a:buFont typeface="Arial" panose="05000000000000000000" pitchFamily="2" charset="2"/>
              <a:buChar char="•"/>
            </a:pPr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b="1" dirty="0">
              <a:highlight>
                <a:srgbClr val="282A2C"/>
              </a:highlight>
            </a:endParaRPr>
          </a:p>
          <a:p>
            <a:pPr algn="l">
              <a:lnSpc>
                <a:spcPct val="150000"/>
              </a:lnSpc>
            </a:pPr>
            <a:r>
              <a:rPr lang="pt-BR" sz="1400" b="1" dirty="0">
                <a:highlight>
                  <a:srgbClr val="282A2C"/>
                </a:highlight>
              </a:rPr>
              <a:t>A análise da relação entre engajamento (IEG) e desempenho acadêmico (IDA) revela uma correlação positiva:</a:t>
            </a:r>
            <a:br>
              <a:rPr lang="pt-BR" sz="1400" b="1" dirty="0">
                <a:highlight>
                  <a:srgbClr val="282A2C"/>
                </a:highlight>
              </a:rPr>
            </a:br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</a:rPr>
              <a:t>•</a:t>
            </a:r>
            <a:r>
              <a:rPr lang="pt-BR" sz="1400" b="1" dirty="0">
                <a:highlight>
                  <a:srgbClr val="282A2C"/>
                </a:highlight>
              </a:rPr>
              <a:t>  Alunos com maior engajamento tendem a apresentar melhor desempenho acadêmico; </a:t>
            </a:r>
            <a:br>
              <a:rPr lang="pt-BR" sz="1400" b="1" dirty="0">
                <a:highlight>
                  <a:srgbClr val="282A2C"/>
                </a:highlight>
              </a:rPr>
            </a:br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</a:rPr>
              <a:t>•</a:t>
            </a:r>
            <a:r>
              <a:rPr lang="pt-BR" sz="1400" b="1" dirty="0">
                <a:highlight>
                  <a:srgbClr val="282A2C"/>
                </a:highlight>
              </a:rPr>
              <a:t>  Baixos níveis de engajamento estão associados a maior dispersão e notas mais baixas </a:t>
            </a:r>
            <a:br>
              <a:rPr lang="pt-BR" sz="1400" b="1" dirty="0">
                <a:highlight>
                  <a:srgbClr val="282A2C"/>
                </a:highlight>
              </a:rPr>
            </a:br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</a:rPr>
              <a:t>•  </a:t>
            </a:r>
            <a:r>
              <a:rPr lang="pt-BR" sz="1400" b="1" dirty="0">
                <a:highlight>
                  <a:srgbClr val="282A2C"/>
                </a:highlight>
              </a:rPr>
              <a:t>O aumento do engajamento reduz a variabilidade do desempenho</a:t>
            </a:r>
            <a:endParaRPr lang="pt-BR" sz="1400" b="1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l"/>
            <a:endParaRPr lang="pt-BR" sz="20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0C2DE7D5-2029-6C76-73E4-A34EEDA4D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32C8A67-E34F-BB43-1A42-64D6C1FB8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347" y="1316038"/>
            <a:ext cx="5471478" cy="307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12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433944-F12B-C846-3292-2C66FA758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F19D2-C4EF-C4F4-93DA-4BA0D6BF2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2441" y="492399"/>
            <a:ext cx="7453290" cy="550606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2000" b="1" dirty="0"/>
              <a:t>Impacto do Engajamento no Ponto de Virada (IEG vs IPV)</a:t>
            </a:r>
            <a:endParaRPr lang="pt-BR" sz="20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A0EEBF-2BCB-46F5-C4B8-89C8333D8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307690"/>
            <a:ext cx="7821912" cy="5427407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marL="285750" indent="-285750" algn="just">
              <a:buFont typeface="Arial" panose="05000000000000000000" pitchFamily="2" charset="2"/>
              <a:buChar char="•"/>
            </a:pPr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400" b="1" dirty="0">
              <a:highlight>
                <a:srgbClr val="282A2C"/>
              </a:highlight>
            </a:endParaRPr>
          </a:p>
          <a:p>
            <a:pPr algn="l">
              <a:lnSpc>
                <a:spcPct val="150000"/>
              </a:lnSpc>
            </a:pPr>
            <a:r>
              <a:rPr lang="pt-BR" sz="1400" b="1" dirty="0">
                <a:highlight>
                  <a:srgbClr val="282A2C"/>
                </a:highlight>
              </a:rPr>
              <a:t>A relação entre engajamento e ponto de virada (IPV) também apresenta tendência positiva:</a:t>
            </a:r>
            <a:br>
              <a:rPr lang="pt-BR" sz="1400" b="1" dirty="0">
                <a:highlight>
                  <a:srgbClr val="282A2C"/>
                </a:highlight>
              </a:rPr>
            </a:br>
            <a:r>
              <a:rPr lang="pt-BR" sz="1400" b="1" dirty="0">
                <a:highlight>
                  <a:srgbClr val="282A2C"/>
                </a:highlight>
              </a:rPr>
              <a:t> </a:t>
            </a:r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</a:rPr>
              <a:t>•  </a:t>
            </a:r>
            <a:r>
              <a:rPr lang="pt-BR" sz="1400" b="1" dirty="0">
                <a:highlight>
                  <a:srgbClr val="282A2C"/>
                </a:highlight>
              </a:rPr>
              <a:t>Alunos mais engajados apresentam maiores valores de IPV; </a:t>
            </a:r>
            <a:br>
              <a:rPr lang="pt-BR" sz="1400" b="1" dirty="0">
                <a:highlight>
                  <a:srgbClr val="282A2C"/>
                </a:highlight>
              </a:rPr>
            </a:br>
            <a:r>
              <a:rPr lang="pt-BR" sz="1400" b="1" dirty="0">
                <a:highlight>
                  <a:srgbClr val="282A2C"/>
                </a:highlight>
              </a:rPr>
              <a:t> </a:t>
            </a:r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</a:rPr>
              <a:t>•</a:t>
            </a:r>
            <a:r>
              <a:rPr lang="pt-BR" sz="1400" b="1" dirty="0">
                <a:highlight>
                  <a:srgbClr val="282A2C"/>
                </a:highlight>
              </a:rPr>
              <a:t>  Baixo engajamento está associado a menor evolução no programa; </a:t>
            </a:r>
            <a:br>
              <a:rPr lang="pt-BR" sz="1400" b="1" dirty="0">
                <a:highlight>
                  <a:srgbClr val="282A2C"/>
                </a:highlight>
              </a:rPr>
            </a:br>
            <a:r>
              <a:rPr lang="pt-BR" sz="1400" b="1" dirty="0">
                <a:highlight>
                  <a:srgbClr val="282A2C"/>
                </a:highlight>
              </a:rPr>
              <a:t> </a:t>
            </a:r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</a:rPr>
              <a:t>•  </a:t>
            </a:r>
            <a:r>
              <a:rPr lang="pt-BR" sz="1400" b="1" dirty="0">
                <a:highlight>
                  <a:srgbClr val="282A2C"/>
                </a:highlight>
              </a:rPr>
              <a:t>A progressão do aluno parece diretamente influenciada pelo nível de engajamento.</a:t>
            </a:r>
            <a:endParaRPr lang="pt-BR" sz="1400" b="1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D756C017-55B1-E9A7-931A-845DED65D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6AC4024-58D9-E333-FA63-4E49BA283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407" y="1425677"/>
            <a:ext cx="5275357" cy="296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495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493BE2-536B-0821-05EC-635248D1A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B09FCE-3967-C8AD-D897-2B13AAAE3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5728" y="561648"/>
            <a:ext cx="7403690" cy="550606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pt-BR" sz="2000" b="1" dirty="0"/>
            </a:br>
            <a:r>
              <a:rPr lang="pt-BR" sz="1600" b="1" dirty="0"/>
              <a:t>Impacto do Engajamento no Desempenho e Evolução dos Alunos</a:t>
            </a:r>
            <a:br>
              <a:rPr lang="pt-BR" sz="2000" dirty="0"/>
            </a:br>
            <a:endParaRPr lang="pt-BR" sz="20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FE4EC4-304C-820D-F9CD-8B3C87FD40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307690"/>
            <a:ext cx="7821912" cy="5299587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marL="285750" indent="-285750" algn="just">
              <a:buFont typeface="Arial" panose="05000000000000000000" pitchFamily="2" charset="2"/>
              <a:buChar char="•"/>
            </a:pPr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/>
            <a:endParaRPr lang="pt-BR" sz="1200" b="1" dirty="0"/>
          </a:p>
          <a:p>
            <a:pPr algn="l"/>
            <a:r>
              <a:rPr lang="pt-BR" sz="1200" b="1" dirty="0"/>
              <a:t>A segmentação por nível de engajamento evidencia um impacto direto tanto no desempenho acadêmico (IDA) quanto na evolução do aluno (IPV):</a:t>
            </a:r>
            <a:br>
              <a:rPr lang="pt-BR" sz="1200" b="1" dirty="0"/>
            </a:b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Alunos com baixo engajamento apresentam IDA médio de ~5,1 e IPV médio de ~6,8 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Alunos com engajamento médio atingem IDA ~6,6 e IPV ~7,6 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</a:t>
            </a:r>
            <a:r>
              <a:rPr lang="pt-BR" sz="1200" b="1" dirty="0"/>
              <a:t>  Alunos altamente engajados alcançam IDA superior a ~7,3 e IPV acima de ~8,1 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Observa-se crescimento consistente dos dois indicadores conforme o nível de engajamento aumenta.</a:t>
            </a:r>
            <a:endParaRPr lang="pt-BR" sz="1400" b="1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3A95351F-B1B5-4C78-D3B2-34B3DA1FE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397AD48-F402-BE59-C3BA-8FE55414C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74" y="1698563"/>
            <a:ext cx="3737312" cy="249555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7805AB3-3BBB-BEAC-4D1C-6B873A28A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60" y="1698563"/>
            <a:ext cx="3737313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995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316A9B-2794-AAF8-60FE-FCD47DF4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E105A0-120E-6ACE-A97D-AA517F020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5728" y="561648"/>
            <a:ext cx="7403690" cy="550606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pt-BR" sz="1800" b="1" dirty="0"/>
            </a:br>
            <a:r>
              <a:rPr lang="pt-BR" sz="1800" b="1" dirty="0"/>
              <a:t>Correlação entre Engajamento, Desempenho e Evolução</a:t>
            </a:r>
            <a:br>
              <a:rPr lang="pt-BR" sz="1800" dirty="0"/>
            </a:br>
            <a:endParaRPr lang="pt-BR" sz="18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696FED-26FA-EBFB-1784-157B1CD35B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307690"/>
            <a:ext cx="7821912" cy="5299587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/>
            <a:endParaRPr lang="pt-BR" sz="1200" b="1" dirty="0"/>
          </a:p>
          <a:p>
            <a:pPr lvl="2" algn="l">
              <a:lnSpc>
                <a:spcPct val="150000"/>
              </a:lnSpc>
            </a:pPr>
            <a:r>
              <a:rPr lang="pt-BR" sz="1400" b="1" dirty="0"/>
              <a:t>   </a:t>
            </a:r>
            <a:r>
              <a:rPr lang="pt-BR" sz="1300" b="1" dirty="0"/>
              <a:t>A análise de correlação confirma a relação entre os indicadores:</a:t>
            </a:r>
            <a:br>
              <a:rPr lang="pt-BR" sz="1300" b="1" dirty="0"/>
            </a:br>
            <a:r>
              <a:rPr lang="pt-BR" sz="1300" b="1" dirty="0"/>
              <a:t>     </a:t>
            </a:r>
            <a:r>
              <a:rPr lang="pt-BR" sz="1300" b="1" dirty="0">
                <a:solidFill>
                  <a:srgbClr val="0070C0"/>
                </a:solidFill>
              </a:rPr>
              <a:t> •  </a:t>
            </a:r>
            <a:r>
              <a:rPr lang="pt-BR" sz="1300" b="1" dirty="0"/>
              <a:t>IEG e IDA apresentam correlação moderada (~0,54);</a:t>
            </a:r>
            <a:br>
              <a:rPr lang="pt-BR" sz="1300" b="1" dirty="0"/>
            </a:br>
            <a:r>
              <a:rPr lang="pt-BR" sz="1300" b="1" dirty="0"/>
              <a:t>      </a:t>
            </a:r>
            <a:r>
              <a:rPr lang="pt-BR" sz="1300" b="1" dirty="0">
                <a:solidFill>
                  <a:srgbClr val="0070C0"/>
                </a:solidFill>
              </a:rPr>
              <a:t>•</a:t>
            </a:r>
            <a:r>
              <a:rPr lang="pt-BR" sz="1300" b="1" dirty="0"/>
              <a:t>  IEG e IPV apresentam correlação semelhante (~0,56);</a:t>
            </a:r>
            <a:br>
              <a:rPr lang="pt-BR" sz="1300" b="1" dirty="0"/>
            </a:br>
            <a:r>
              <a:rPr lang="pt-BR" sz="1300" b="1" dirty="0"/>
              <a:t>      </a:t>
            </a:r>
            <a:r>
              <a:rPr lang="pt-BR" sz="1300" b="1" dirty="0">
                <a:solidFill>
                  <a:srgbClr val="0070C0"/>
                </a:solidFill>
              </a:rPr>
              <a:t>•  </a:t>
            </a:r>
            <a:r>
              <a:rPr lang="pt-BR" sz="1300" b="1" dirty="0"/>
              <a:t>IDA e IPV também apresentam relação consistente.</a:t>
            </a:r>
            <a:endParaRPr lang="pt-BR" sz="1300" b="1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525D762B-2022-B1C9-7C7F-DB58C9A62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E5FC8D1-00D7-C9A7-3CBC-D5DA71144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426" y="1581422"/>
            <a:ext cx="5506064" cy="290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640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51DBC2-D0BC-BBA2-B903-F04465D28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597590-340B-B48A-9087-74AADDAD97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1172" y="565517"/>
            <a:ext cx="7612801" cy="550606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800" b="1" dirty="0"/>
              <a:t>Correlação entre Autoavaliação e Desempenho (IAA vs IDA/IEG)</a:t>
            </a:r>
            <a:endParaRPr lang="pt-BR" sz="18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0DF370-E8AF-B20E-CAD4-BC04265083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7523" y="1307690"/>
            <a:ext cx="7325032" cy="5299587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lvl="2" algn="l">
              <a:lnSpc>
                <a:spcPct val="150000"/>
              </a:lnSpc>
            </a:pPr>
            <a:endParaRPr lang="pt-BR" sz="1200" b="1" dirty="0"/>
          </a:p>
          <a:p>
            <a:pPr lvl="2" algn="l">
              <a:lnSpc>
                <a:spcPct val="150000"/>
              </a:lnSpc>
            </a:pPr>
            <a:r>
              <a:rPr lang="pt-BR" sz="1200" b="1" dirty="0"/>
              <a:t> A análise de correlação entre os indicadores revela baixa relação entre a autoavaliação dos alunos e seus resultados reais:</a:t>
            </a:r>
            <a:br>
              <a:rPr lang="pt-BR" sz="1200" b="1" dirty="0"/>
            </a:br>
            <a:r>
              <a:rPr lang="pt-BR" sz="1200" b="1" dirty="0"/>
              <a:t> </a:t>
            </a:r>
            <a:r>
              <a:rPr lang="pt-BR" sz="1200" b="1" dirty="0">
                <a:solidFill>
                  <a:srgbClr val="0070C0"/>
                </a:solidFill>
              </a:rPr>
              <a:t> •  </a:t>
            </a:r>
            <a:r>
              <a:rPr lang="pt-BR" sz="1200" b="1" dirty="0"/>
              <a:t>IAA e IDA apresentam correlação fraca (~0,12);</a:t>
            </a:r>
            <a:br>
              <a:rPr lang="pt-BR" sz="1200" b="1" dirty="0"/>
            </a:br>
            <a:r>
              <a:rPr lang="pt-BR" sz="1200" b="1" dirty="0"/>
              <a:t>  </a:t>
            </a: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IAA e IEG também apresentam correlação baixa (~0,13);</a:t>
            </a:r>
            <a:br>
              <a:rPr lang="pt-BR" sz="1200" b="1" dirty="0"/>
            </a:br>
            <a:r>
              <a:rPr lang="pt-BR" sz="1200" b="1" dirty="0"/>
              <a:t>  </a:t>
            </a: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Em contraste, IDA e IEG possuem correlação moderada (~0,54).</a:t>
            </a:r>
            <a:endParaRPr lang="pt-BR" sz="1200" b="1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5739E921-A64A-7BBA-E473-521E462D0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FC591D8-0B5E-4D7C-217E-4D41CEDDE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440" y="1581422"/>
            <a:ext cx="5527040" cy="293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828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9E4FDF-3B36-40C5-B960-ACEC3D9AA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4D0A3-591E-ED97-0853-DBB9E651D2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5728" y="393290"/>
            <a:ext cx="7403690" cy="718964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800" b="1" dirty="0">
                <a:solidFill>
                  <a:schemeClr val="tx1"/>
                </a:solidFill>
              </a:rPr>
              <a:t>As Autoavaliações dos alunos (IAA) são coerentes com o desempenho real (IDA) e engajamento (IEG) 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BCC381-0715-B642-EF17-8A23ED682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307690"/>
            <a:ext cx="7821912" cy="5550310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marL="285750" indent="-285750" algn="just">
              <a:buFont typeface="Arial" panose="05000000000000000000" pitchFamily="2" charset="2"/>
              <a:buChar char="•"/>
            </a:pPr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>
              <a:lnSpc>
                <a:spcPct val="100000"/>
              </a:lnSpc>
            </a:pPr>
            <a:r>
              <a:rPr lang="pt-BR" sz="1200" b="1" dirty="0"/>
              <a:t> </a:t>
            </a:r>
          </a:p>
          <a:p>
            <a:pPr algn="l">
              <a:lnSpc>
                <a:spcPct val="100000"/>
              </a:lnSpc>
            </a:pPr>
            <a:r>
              <a:rPr lang="pt-BR" sz="1100" b="1" dirty="0"/>
              <a:t>A análise evidencia baixa coerência entre a autoavaliação dos alunos e seus resultados reais:</a:t>
            </a:r>
          </a:p>
          <a:p>
            <a:pPr algn="l">
              <a:lnSpc>
                <a:spcPct val="100000"/>
              </a:lnSpc>
            </a:pPr>
            <a:r>
              <a:rPr lang="pt-BR" sz="1100" b="1" dirty="0">
                <a:solidFill>
                  <a:srgbClr val="0070C0"/>
                </a:solidFill>
              </a:rPr>
              <a:t> •  </a:t>
            </a:r>
            <a:r>
              <a:rPr lang="pt-BR" sz="1100" b="1" dirty="0"/>
              <a:t>Alunos com percepções semelhantes apresentam níveis muito distintos de desempenho e  engajamento;  </a:t>
            </a:r>
          </a:p>
          <a:p>
            <a:pPr algn="l">
              <a:lnSpc>
                <a:spcPct val="100000"/>
              </a:lnSpc>
            </a:pPr>
            <a:r>
              <a:rPr lang="pt-BR" sz="1100" b="1" dirty="0"/>
              <a:t> </a:t>
            </a:r>
            <a:r>
              <a:rPr lang="pt-BR" sz="1100" b="1" dirty="0">
                <a:solidFill>
                  <a:srgbClr val="0070C0"/>
                </a:solidFill>
              </a:rPr>
              <a:t>• </a:t>
            </a:r>
            <a:r>
              <a:rPr lang="pt-BR" sz="1100" b="1" dirty="0"/>
              <a:t> Não há relação consistente entre o aumento da autoavaliação e a melhoria dos indicadores   </a:t>
            </a:r>
          </a:p>
          <a:p>
            <a:pPr algn="l">
              <a:lnSpc>
                <a:spcPct val="100000"/>
              </a:lnSpc>
            </a:pPr>
            <a:r>
              <a:rPr lang="pt-BR" sz="1100" b="1" dirty="0"/>
              <a:t>     educacionais;</a:t>
            </a:r>
          </a:p>
          <a:p>
            <a:pPr algn="l">
              <a:lnSpc>
                <a:spcPct val="100000"/>
              </a:lnSpc>
            </a:pPr>
            <a:r>
              <a:rPr lang="pt-BR" sz="1100" b="1" dirty="0"/>
              <a:t> </a:t>
            </a:r>
            <a:r>
              <a:rPr lang="pt-BR" sz="1100" b="1" dirty="0">
                <a:solidFill>
                  <a:srgbClr val="0070C0"/>
                </a:solidFill>
              </a:rPr>
              <a:t>• </a:t>
            </a:r>
            <a:r>
              <a:rPr lang="pt-BR" sz="1100" b="1" dirty="0"/>
              <a:t> Esse padrão se mantém tanto para desempenho acadêmico (IDA) quanto para engajamento  (IEG).</a:t>
            </a:r>
          </a:p>
          <a:p>
            <a:pPr algn="l">
              <a:lnSpc>
                <a:spcPct val="100000"/>
              </a:lnSpc>
            </a:pPr>
            <a:r>
              <a:rPr lang="pt-BR" sz="1100" b="1" dirty="0"/>
              <a:t>A autoavaliação deve ser tratada como insumo complementar, e não como indicador central de acompanhamento.</a:t>
            </a: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4BF359B3-7C7A-0318-D6E5-D184DE465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9F5A731-1D2B-6605-EF2E-8648CC74EC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78" y="1483098"/>
            <a:ext cx="3708841" cy="295125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DFC4CE4-E1FE-8E71-5C99-B7489799E9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030" y="1483098"/>
            <a:ext cx="3708841" cy="295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15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83866C-AB03-3956-98AE-BD3FB3182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FBB5B-9BCC-7571-0044-E5539B739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2441" y="492398"/>
            <a:ext cx="7453290" cy="893949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2000" b="1" dirty="0"/>
              <a:t>Relação entre fatores psicossociais e quedas de desempenho acadêmico e engajamento</a:t>
            </a:r>
            <a:endParaRPr lang="pt-BR" sz="20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F7F125-8937-5EF3-BB6E-AA3906B07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307690"/>
            <a:ext cx="7821912" cy="5427407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400" b="1" dirty="0">
              <a:highlight>
                <a:srgbClr val="282A2C"/>
              </a:highlight>
            </a:endParaRPr>
          </a:p>
          <a:p>
            <a:pPr algn="l">
              <a:lnSpc>
                <a:spcPct val="150000"/>
              </a:lnSpc>
            </a:pPr>
            <a:r>
              <a:rPr lang="pt-BR" sz="1400" b="1" dirty="0"/>
              <a:t>A análise de correlação mostra que os fatores psicossociais (IPS) possuem relação praticamente inexistente com os principais indicadores educacionais:</a:t>
            </a:r>
            <a:br>
              <a:rPr lang="pt-BR" sz="1400" b="1" dirty="0"/>
            </a:br>
            <a:r>
              <a:rPr lang="pt-BR" sz="1400" b="1" dirty="0"/>
              <a:t> </a:t>
            </a:r>
            <a:r>
              <a:rPr lang="pt-BR" sz="1400" b="1" dirty="0">
                <a:solidFill>
                  <a:srgbClr val="0070C0"/>
                </a:solidFill>
              </a:rPr>
              <a:t>•</a:t>
            </a:r>
            <a:r>
              <a:rPr lang="pt-BR" sz="1400" b="1" dirty="0"/>
              <a:t>  IPS vs IDA: 0.02 </a:t>
            </a:r>
            <a:br>
              <a:rPr lang="pt-BR" sz="1400" b="1" dirty="0"/>
            </a:br>
            <a:r>
              <a:rPr lang="pt-BR" sz="1400" b="1" dirty="0">
                <a:solidFill>
                  <a:srgbClr val="0070C0"/>
                </a:solidFill>
              </a:rPr>
              <a:t> •  </a:t>
            </a:r>
            <a:r>
              <a:rPr lang="pt-BR" sz="1400" b="1" dirty="0"/>
              <a:t>IPS vs IEG: -0.05 </a:t>
            </a:r>
            <a:br>
              <a:rPr lang="pt-BR" sz="1400" b="1" dirty="0"/>
            </a:br>
            <a:r>
              <a:rPr lang="pt-BR" sz="1400" b="1" dirty="0"/>
              <a:t> </a:t>
            </a:r>
            <a:r>
              <a:rPr lang="pt-BR" sz="1400" b="1" dirty="0">
                <a:solidFill>
                  <a:srgbClr val="0070C0"/>
                </a:solidFill>
              </a:rPr>
              <a:t>• </a:t>
            </a:r>
            <a:r>
              <a:rPr lang="pt-BR" sz="1400" b="1" dirty="0"/>
              <a:t> IPS vs IPV: -0.05 </a:t>
            </a:r>
            <a:br>
              <a:rPr lang="pt-BR" sz="1400" b="1" dirty="0"/>
            </a:br>
            <a:br>
              <a:rPr lang="pt-BR" sz="1400" dirty="0"/>
            </a:br>
            <a:r>
              <a:rPr lang="pt-BR" sz="1400" dirty="0"/>
              <a:t>Isso indica que o IPS, isoladamente, não explica o desempenho ou o engajamento dos alunos.</a:t>
            </a:r>
            <a:endParaRPr lang="pt-BR" sz="1400" b="1" dirty="0">
              <a:highlight>
                <a:srgbClr val="282A2C"/>
              </a:highlight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2236966E-6117-715E-8BD7-34A7515BB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7991206-065C-80AD-0BA2-0D09BFB035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788" y="1809135"/>
            <a:ext cx="5318596" cy="281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198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45B6FA-C353-8B39-2463-6BE45A0B7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234695-3A82-1AEA-198B-69ED5B1A7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2441" y="492398"/>
            <a:ext cx="7453290" cy="687473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800" b="1" dirty="0">
                <a:solidFill>
                  <a:schemeClr val="tx1"/>
                </a:solidFill>
              </a:rPr>
              <a:t>IPS vs Desempenho Futuro e IPS vs Engajamento Futuro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C92783-7EA7-A144-1E1C-D2775CC9A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307690"/>
            <a:ext cx="7821912" cy="5427407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400" b="1" dirty="0">
              <a:highlight>
                <a:srgbClr val="282A2C"/>
              </a:highlight>
            </a:endParaRPr>
          </a:p>
          <a:p>
            <a:pPr algn="l">
              <a:lnSpc>
                <a:spcPct val="150000"/>
              </a:lnSpc>
            </a:pPr>
            <a:r>
              <a:rPr lang="pt-BR" sz="1200" b="1" dirty="0"/>
              <a:t>Ao analisar os valores médios de desempenho e engajamento futuro nas diferentes faixas de IPS, observa-se apenas uma leve tendência de melhora: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IDA aumenta discretamente com o aumento do IPS;  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IEG segue comportamento semelhante ;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As diferenças entre grupos são muito pequenas;  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Isso reforça que o impacto do IPS é limitado quando analisado isoladamente.</a:t>
            </a:r>
          </a:p>
          <a:p>
            <a:pPr algn="l">
              <a:lnSpc>
                <a:spcPct val="150000"/>
              </a:lnSpc>
            </a:pPr>
            <a:endParaRPr lang="pt-BR" sz="1400" b="1" dirty="0">
              <a:highlight>
                <a:srgbClr val="282A2C"/>
              </a:highlight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8C353236-D1D7-E5B2-71BA-7C8FEF4B7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0A63CAE-09E1-CECB-89E6-229E052122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" y="1729963"/>
            <a:ext cx="3763527" cy="280434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EA94C7B-D846-E24A-1A07-E6EABF021D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144" y="1729963"/>
            <a:ext cx="3763527" cy="280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14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1D24D7-46E0-DC74-968D-A746DE02B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78A1A-F980-7BC3-F496-45B8D74E4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2441" y="492399"/>
            <a:ext cx="7510168" cy="648144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800" b="1" dirty="0">
                <a:solidFill>
                  <a:schemeClr val="tx1"/>
                </a:solidFill>
              </a:rPr>
              <a:t>Distribuição do IDA e IEG Futuros por Faixas de IPS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D63868-FCAE-D36B-5DF6-DB25B5476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307690"/>
            <a:ext cx="7821912" cy="5230761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b="1" dirty="0">
              <a:highlight>
                <a:srgbClr val="282A2C"/>
              </a:highlight>
            </a:endParaRPr>
          </a:p>
          <a:p>
            <a:pPr algn="l">
              <a:lnSpc>
                <a:spcPct val="150000"/>
              </a:lnSpc>
            </a:pPr>
            <a:r>
              <a:rPr lang="pt-BR" sz="1200" b="1" dirty="0">
                <a:highlight>
                  <a:srgbClr val="282A2C"/>
                </a:highlight>
              </a:rPr>
              <a:t>A análise da distribuição evidencia:</a:t>
            </a:r>
            <a:br>
              <a:rPr lang="pt-BR" sz="1200" b="1" dirty="0">
                <a:highlight>
                  <a:srgbClr val="282A2C"/>
                </a:highlight>
              </a:rPr>
            </a:br>
            <a:r>
              <a:rPr lang="pt-BR" sz="1200" b="1" dirty="0">
                <a:solidFill>
                  <a:srgbClr val="0070C0"/>
                </a:solidFill>
                <a:highlight>
                  <a:srgbClr val="282A2C"/>
                </a:highlight>
              </a:rPr>
              <a:t>•</a:t>
            </a:r>
            <a:r>
              <a:rPr lang="pt-BR" sz="1200" b="1" dirty="0">
                <a:highlight>
                  <a:srgbClr val="282A2C"/>
                </a:highlight>
              </a:rPr>
              <a:t>  Alta dispersão dos dados em todas as faixas de IPS;</a:t>
            </a:r>
            <a:br>
              <a:rPr lang="pt-BR" sz="1200" b="1" dirty="0">
                <a:highlight>
                  <a:srgbClr val="282A2C"/>
                </a:highlight>
              </a:rPr>
            </a:br>
            <a:r>
              <a:rPr lang="pt-BR" sz="1200" b="1" dirty="0">
                <a:solidFill>
                  <a:srgbClr val="0070C0"/>
                </a:solidFill>
                <a:highlight>
                  <a:srgbClr val="282A2C"/>
                </a:highlight>
              </a:rPr>
              <a:t>• </a:t>
            </a:r>
            <a:r>
              <a:rPr lang="pt-BR" sz="1200" b="1" dirty="0">
                <a:highlight>
                  <a:srgbClr val="282A2C"/>
                </a:highlight>
              </a:rPr>
              <a:t> Alunos de diferentes níveis de IPS apresentam resultados muito semelhantes de IDA e IEG;</a:t>
            </a:r>
            <a:br>
              <a:rPr lang="pt-BR" sz="1200" b="1" dirty="0">
                <a:highlight>
                  <a:srgbClr val="282A2C"/>
                </a:highlight>
              </a:rPr>
            </a:br>
            <a:r>
              <a:rPr lang="pt-BR" sz="1200" b="1" dirty="0">
                <a:solidFill>
                  <a:srgbClr val="0070C0"/>
                </a:solidFill>
                <a:highlight>
                  <a:srgbClr val="282A2C"/>
                </a:highlight>
              </a:rPr>
              <a:t>• </a:t>
            </a:r>
            <a:r>
              <a:rPr lang="pt-BR" sz="1200" b="1" dirty="0">
                <a:highlight>
                  <a:srgbClr val="282A2C"/>
                </a:highlight>
              </a:rPr>
              <a:t> Presença de outliers em todos os níveis; </a:t>
            </a:r>
            <a:br>
              <a:rPr lang="pt-BR" sz="1200" b="1" dirty="0">
                <a:highlight>
                  <a:srgbClr val="282A2C"/>
                </a:highlight>
              </a:rPr>
            </a:br>
            <a:r>
              <a:rPr lang="pt-BR" sz="1200" b="1" dirty="0">
                <a:solidFill>
                  <a:srgbClr val="0070C0"/>
                </a:solidFill>
                <a:highlight>
                  <a:srgbClr val="282A2C"/>
                </a:highlight>
              </a:rPr>
              <a:t>•  </a:t>
            </a:r>
            <a:r>
              <a:rPr lang="pt-BR" sz="1200" b="1" dirty="0">
                <a:highlight>
                  <a:srgbClr val="282A2C"/>
                </a:highlight>
              </a:rPr>
              <a:t>Ausência de padrão consistente entre fatores psicossociais e desempenho/engajamento  futuro;</a:t>
            </a:r>
          </a:p>
          <a:p>
            <a:pPr algn="l">
              <a:lnSpc>
                <a:spcPct val="150000"/>
              </a:lnSpc>
            </a:pPr>
            <a:r>
              <a:rPr lang="pt-BR" sz="1200" b="1" dirty="0"/>
              <a:t>O IPS por si só não explica bem o desempenho ou o engajamento futuro. Seu efeito pode ser indireto  ou  combinado com outras dimensões do desenvolvimento do aluno.</a:t>
            </a:r>
            <a:endParaRPr lang="pt-BR" sz="1200" b="1" dirty="0">
              <a:highlight>
                <a:srgbClr val="282A2C"/>
              </a:highlight>
            </a:endParaRPr>
          </a:p>
          <a:p>
            <a:pPr algn="l">
              <a:lnSpc>
                <a:spcPct val="150000"/>
              </a:lnSpc>
            </a:pPr>
            <a:endParaRPr lang="pt-BR" sz="1200" b="1" dirty="0">
              <a:highlight>
                <a:srgbClr val="282A2C"/>
              </a:highlight>
            </a:endParaRPr>
          </a:p>
          <a:p>
            <a:pPr algn="l">
              <a:lnSpc>
                <a:spcPct val="150000"/>
              </a:lnSpc>
            </a:pPr>
            <a:endParaRPr lang="pt-BR" sz="1400" b="1" dirty="0">
              <a:highlight>
                <a:srgbClr val="282A2C"/>
              </a:highlight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C9A1FFDF-007E-5571-1119-190AC4AC6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1A69510-5359-8729-D995-14A6E2034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441" y="1445610"/>
            <a:ext cx="3648733" cy="257578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4249037-DF5C-D2FC-ED12-28BBAFA2E5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"/>
          <a:stretch>
            <a:fillRect/>
          </a:stretch>
        </p:blipFill>
        <p:spPr>
          <a:xfrm>
            <a:off x="5073876" y="1445608"/>
            <a:ext cx="3648733" cy="257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518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126808-BD25-24A2-9FC0-0841C1285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27B00D-B374-C823-FAC7-9F6A512F0A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3016" y="497083"/>
            <a:ext cx="7609114" cy="687473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800" b="1" dirty="0"/>
              <a:t>Relação entre Avaliação Psicopedagógica (IPP) e Defasagem (IAN)</a:t>
            </a:r>
            <a:endParaRPr lang="pt-BR" sz="18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EF9E6A-6FEB-2372-C6C7-CE0C29ADD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307690"/>
            <a:ext cx="7821912" cy="5438549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b="1" dirty="0">
              <a:highlight>
                <a:srgbClr val="282A2C"/>
              </a:highlight>
            </a:endParaRPr>
          </a:p>
          <a:p>
            <a:pPr algn="l">
              <a:lnSpc>
                <a:spcPct val="150000"/>
              </a:lnSpc>
            </a:pPr>
            <a:endParaRPr lang="pt-BR" sz="1400" b="1" dirty="0">
              <a:highlight>
                <a:srgbClr val="282A2C"/>
              </a:highlight>
            </a:endParaRPr>
          </a:p>
          <a:p>
            <a:pPr algn="l">
              <a:lnSpc>
                <a:spcPct val="150000"/>
              </a:lnSpc>
            </a:pPr>
            <a:r>
              <a:rPr lang="pt-BR" sz="1400" b="1" dirty="0"/>
              <a:t>A análise de correlação entre IPP e IAN indica baixa associação:</a:t>
            </a:r>
            <a:br>
              <a:rPr lang="pt-BR" sz="1400" b="1" dirty="0"/>
            </a:br>
            <a:r>
              <a:rPr lang="pt-BR" sz="1400" b="1" dirty="0">
                <a:solidFill>
                  <a:srgbClr val="0070C0"/>
                </a:solidFill>
              </a:rPr>
              <a:t>•  </a:t>
            </a:r>
            <a:r>
              <a:rPr lang="pt-BR" sz="1400" b="1" dirty="0"/>
              <a:t>Correlação de aproximadamente 0.12;</a:t>
            </a:r>
            <a:br>
              <a:rPr lang="pt-BR" sz="1400" b="1" dirty="0"/>
            </a:br>
            <a:r>
              <a:rPr lang="pt-BR" sz="1400" b="1" dirty="0">
                <a:solidFill>
                  <a:srgbClr val="0070C0"/>
                </a:solidFill>
              </a:rPr>
              <a:t>•  </a:t>
            </a:r>
            <a:r>
              <a:rPr lang="pt-BR" sz="1400" b="1" dirty="0"/>
              <a:t>Relação fraca entre avaliação psicopedagógica e nível de defasagem;</a:t>
            </a:r>
            <a:br>
              <a:rPr lang="pt-BR" sz="1400" b="1" dirty="0"/>
            </a:br>
            <a:r>
              <a:rPr lang="pt-BR" sz="1400" b="1" dirty="0">
                <a:solidFill>
                  <a:srgbClr val="0070C0"/>
                </a:solidFill>
              </a:rPr>
              <a:t>•</a:t>
            </a:r>
            <a:r>
              <a:rPr lang="pt-BR" sz="1400" b="1" dirty="0"/>
              <a:t>  O IPP não reflete de forma consistente a condição real de aprendizagem dos alunos.</a:t>
            </a:r>
            <a:endParaRPr lang="pt-BR" sz="1400" b="1" dirty="0">
              <a:highlight>
                <a:srgbClr val="282A2C"/>
              </a:highlight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71345E79-DEB3-4A4D-4AD0-67041BA60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04C4871-12E8-53F4-BE05-E7486D4E6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674" y="1507634"/>
            <a:ext cx="4640824" cy="291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7642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DE0131-B254-73FD-B0BE-D4B6535EF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FDD3C2-4F98-0C31-5530-A42818EDA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3016" y="497083"/>
            <a:ext cx="7609114" cy="687473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pt-BR" sz="1800" b="1" dirty="0"/>
            </a:br>
            <a:r>
              <a:rPr lang="pt-BR" sz="1800" b="1" dirty="0"/>
              <a:t>Avaliação Psicopedagógica Média por Níveis de Defasagem</a:t>
            </a:r>
            <a:br>
              <a:rPr lang="pt-BR" sz="1800" dirty="0"/>
            </a:br>
            <a:endParaRPr lang="pt-BR" sz="18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47DA47-3824-F974-1640-F4AC77701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307690"/>
            <a:ext cx="7821912" cy="5438549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b="1" dirty="0">
              <a:highlight>
                <a:srgbClr val="282A2C"/>
              </a:highlight>
            </a:endParaRPr>
          </a:p>
          <a:p>
            <a:pPr algn="l">
              <a:lnSpc>
                <a:spcPct val="150000"/>
              </a:lnSpc>
            </a:pPr>
            <a:endParaRPr lang="pt-BR" sz="1400" b="1" dirty="0">
              <a:highlight>
                <a:srgbClr val="282A2C"/>
              </a:highlight>
            </a:endParaRPr>
          </a:p>
          <a:p>
            <a:pPr algn="l">
              <a:lnSpc>
                <a:spcPct val="150000"/>
              </a:lnSpc>
            </a:pPr>
            <a:r>
              <a:rPr lang="pt-BR" sz="1400" b="1" dirty="0"/>
              <a:t>A análise das médias mostra apenas pequenas diferenças:</a:t>
            </a:r>
            <a:br>
              <a:rPr lang="pt-BR" sz="1400" b="1" dirty="0"/>
            </a:br>
            <a:r>
              <a:rPr lang="pt-BR" sz="1400" b="1" dirty="0">
                <a:solidFill>
                  <a:srgbClr val="0070C0"/>
                </a:solidFill>
              </a:rPr>
              <a:t>• </a:t>
            </a:r>
            <a:r>
              <a:rPr lang="pt-BR" sz="1400" b="1" dirty="0"/>
              <a:t> Alunos com maior adequação (IAN 10) apresentam IPP ligeiramente maior;</a:t>
            </a:r>
            <a:br>
              <a:rPr lang="pt-BR" sz="1400" b="1" dirty="0"/>
            </a:br>
            <a:r>
              <a:rPr lang="pt-BR" sz="1400" b="1" dirty="0">
                <a:solidFill>
                  <a:srgbClr val="0070C0"/>
                </a:solidFill>
              </a:rPr>
              <a:t>•</a:t>
            </a:r>
            <a:r>
              <a:rPr lang="pt-BR" sz="1400" b="1" dirty="0"/>
              <a:t>  Alunos com defasagem severa (IAN 2.5) possuem IPP ligeiramente menor; </a:t>
            </a:r>
            <a:br>
              <a:rPr lang="pt-BR" sz="1400" b="1" dirty="0"/>
            </a:br>
            <a:r>
              <a:rPr lang="pt-BR" sz="1400" b="1" dirty="0">
                <a:solidFill>
                  <a:srgbClr val="0070C0"/>
                </a:solidFill>
              </a:rPr>
              <a:t>• </a:t>
            </a:r>
            <a:r>
              <a:rPr lang="pt-BR" sz="1400" b="1" dirty="0"/>
              <a:t> A diferença entre os grupos é pouco expressiva;</a:t>
            </a:r>
            <a:br>
              <a:rPr lang="pt-BR" sz="1400" b="1" dirty="0"/>
            </a:br>
            <a:r>
              <a:rPr lang="pt-BR" sz="1400" b="1" dirty="0">
                <a:solidFill>
                  <a:srgbClr val="0070C0"/>
                </a:solidFill>
              </a:rPr>
              <a:t>•</a:t>
            </a:r>
            <a:r>
              <a:rPr lang="pt-BR" sz="1400" b="1" dirty="0"/>
              <a:t>  Baixa sensibilidade do IPP para distinguir níveis de defasagem.</a:t>
            </a:r>
            <a:endParaRPr lang="pt-BR" sz="1400" b="1" dirty="0">
              <a:highlight>
                <a:srgbClr val="282A2C"/>
              </a:highlight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611528F1-4EE6-B965-3028-D272B187F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F7E7AC1-9F55-BED1-A69E-259B5ECB3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109" y="1838632"/>
            <a:ext cx="5450400" cy="2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418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068EB9-C469-CBB7-692D-54257F12F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AEA3CB-5F53-CA8D-F57B-1337ABB63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1761" y="497083"/>
            <a:ext cx="6751624" cy="687473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800" b="1" dirty="0">
                <a:solidFill>
                  <a:schemeClr val="tx1"/>
                </a:solidFill>
              </a:rPr>
              <a:t>Distribuição do IPP por Nível de Defasagem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A5D826-B2FD-65A0-1FFF-0206207E3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307691"/>
            <a:ext cx="7821912" cy="5171768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b="1" dirty="0">
              <a:highlight>
                <a:srgbClr val="282A2C"/>
              </a:highlight>
            </a:endParaRPr>
          </a:p>
          <a:p>
            <a:pPr algn="l">
              <a:lnSpc>
                <a:spcPct val="150000"/>
              </a:lnSpc>
            </a:pPr>
            <a:endParaRPr lang="pt-BR" sz="1200" b="1" dirty="0">
              <a:highlight>
                <a:srgbClr val="282A2C"/>
              </a:highlight>
            </a:endParaRPr>
          </a:p>
          <a:p>
            <a:pPr lvl="1" algn="l">
              <a:lnSpc>
                <a:spcPct val="150000"/>
              </a:lnSpc>
            </a:pPr>
            <a:r>
              <a:rPr lang="pt-BR" sz="1200" b="1" dirty="0"/>
              <a:t>A análise da distribuição evidencia: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</a:t>
            </a:r>
            <a:r>
              <a:rPr lang="pt-BR" sz="1200" b="1" dirty="0"/>
              <a:t>  Alta dispersão dos valores em todos os níveis de IAN;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Alunos com diferentes níveis de defasagem apresentam avaliações semelhantes;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</a:t>
            </a:r>
            <a:r>
              <a:rPr lang="pt-BR" sz="1200" b="1" dirty="0"/>
              <a:t>  Presença de outliers em todos os grupos;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</a:t>
            </a:r>
            <a:r>
              <a:rPr lang="pt-BR" sz="1200" b="1" dirty="0"/>
              <a:t>  O indicador IPP não segmenta adequadamente os alunos por nível de defasagem.</a:t>
            </a:r>
            <a:endParaRPr lang="pt-BR" sz="1200" b="1" dirty="0">
              <a:highlight>
                <a:srgbClr val="282A2C"/>
              </a:highlight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AB7DCA89-4044-4800-2238-554BCE458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68E30C3-34E6-0A00-272A-17A638A1E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237" y="1706880"/>
            <a:ext cx="5084763" cy="268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099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5481F-0839-92F1-2FA4-C40DA1510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5F0BB6-5FD4-5D38-F821-F20885C3F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1761" y="497083"/>
            <a:ext cx="6751624" cy="687473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800" b="1" dirty="0"/>
              <a:t>Fatores que mais influenciam o ponto de virada (IPV)</a:t>
            </a:r>
            <a:endParaRPr lang="pt-BR" sz="18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4E42A4-6664-16EB-798A-5F0E7A7969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7799" y="1307690"/>
            <a:ext cx="7019925" cy="5550309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lvl="2" algn="l">
              <a:lnSpc>
                <a:spcPct val="150000"/>
              </a:lnSpc>
            </a:pPr>
            <a:r>
              <a:rPr lang="pt-BR" sz="1200" b="1" dirty="0"/>
              <a:t>A análise de correlação revela quais indicadores estão mais associados ao ponto de virada dos alunos:</a:t>
            </a:r>
            <a:br>
              <a:rPr lang="pt-BR" sz="1200" b="1" dirty="0"/>
            </a:br>
            <a:r>
              <a:rPr lang="pt-BR" sz="1200" b="1" dirty="0"/>
              <a:t>  </a:t>
            </a:r>
            <a:r>
              <a:rPr lang="pt-BR" sz="1200" b="1" dirty="0">
                <a:solidFill>
                  <a:srgbClr val="0070C0"/>
                </a:solidFill>
              </a:rPr>
              <a:t>•  </a:t>
            </a:r>
            <a:r>
              <a:rPr lang="pt-BR" sz="1200" b="1" dirty="0"/>
              <a:t>Desempenho acadêmico (IDA): 0.56 </a:t>
            </a:r>
            <a:br>
              <a:rPr lang="pt-BR" sz="1200" b="1" dirty="0"/>
            </a:br>
            <a:r>
              <a:rPr lang="pt-BR" sz="1200" b="1" dirty="0"/>
              <a:t>  </a:t>
            </a:r>
            <a:r>
              <a:rPr lang="pt-BR" sz="1200" b="1" dirty="0">
                <a:solidFill>
                  <a:srgbClr val="0070C0"/>
                </a:solidFill>
              </a:rPr>
              <a:t>•</a:t>
            </a:r>
            <a:r>
              <a:rPr lang="pt-BR" sz="1200" b="1" dirty="0"/>
              <a:t>  Engajamento (IEG): 0.56 </a:t>
            </a:r>
            <a:br>
              <a:rPr lang="pt-BR" sz="1200" b="1" dirty="0"/>
            </a:br>
            <a:r>
              <a:rPr lang="pt-BR" sz="1200" b="1" dirty="0"/>
              <a:t>  </a:t>
            </a: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Avaliação psicopedagógica (IPP): 0.61 </a:t>
            </a:r>
            <a:br>
              <a:rPr lang="pt-BR" sz="1200" b="1" dirty="0"/>
            </a:br>
            <a:r>
              <a:rPr lang="pt-BR" sz="1200" b="1" dirty="0"/>
              <a:t>Por outro lado:</a:t>
            </a:r>
            <a:br>
              <a:rPr lang="pt-BR" sz="1200" b="1" dirty="0"/>
            </a:br>
            <a:r>
              <a:rPr lang="pt-BR" sz="1200" b="1" dirty="0"/>
              <a:t>  </a:t>
            </a:r>
            <a:r>
              <a:rPr lang="pt-BR" sz="1200" b="1" dirty="0">
                <a:solidFill>
                  <a:srgbClr val="0070C0"/>
                </a:solidFill>
              </a:rPr>
              <a:t>•</a:t>
            </a:r>
            <a:r>
              <a:rPr lang="pt-BR" sz="1200" b="1" dirty="0"/>
              <a:t>  Autoavaliação (IAA): 0.06 </a:t>
            </a:r>
            <a:br>
              <a:rPr lang="pt-BR" sz="1200" b="1" dirty="0"/>
            </a:br>
            <a:r>
              <a:rPr lang="pt-BR" sz="1200" b="1" dirty="0"/>
              <a:t>  </a:t>
            </a:r>
            <a:r>
              <a:rPr lang="pt-BR" sz="1200" b="1" dirty="0">
                <a:solidFill>
                  <a:srgbClr val="0070C0"/>
                </a:solidFill>
              </a:rPr>
              <a:t>•</a:t>
            </a:r>
            <a:r>
              <a:rPr lang="pt-BR" sz="1200" b="1" dirty="0"/>
              <a:t>  Fatores psicossociais (IPS): -0.05 </a:t>
            </a:r>
            <a:br>
              <a:rPr lang="pt-BR" sz="1100" b="1" dirty="0"/>
            </a:br>
            <a:endParaRPr lang="pt-BR" sz="1100" b="1" dirty="0">
              <a:highlight>
                <a:srgbClr val="282A2C"/>
              </a:highlight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F356AC2C-C002-D913-BCAE-573ECB3B6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85C8F53-3A29-1132-7CCC-D8521C3DE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9376" y="1581422"/>
            <a:ext cx="5456393" cy="249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1599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9A0739-455E-73B2-BA93-5D26A5F7A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DEB6C0-9B31-6C10-FDC8-A6B130F6A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617" y="600075"/>
            <a:ext cx="7821912" cy="584481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pt-BR" sz="1600" b="1" dirty="0"/>
            </a:br>
            <a:r>
              <a:rPr lang="pt-BR" sz="1600" b="1" dirty="0"/>
              <a:t>Indicadores acadêmicos e comportamentais que elevam o ponto de virada</a:t>
            </a:r>
            <a:br>
              <a:rPr lang="pt-BR" sz="1600" dirty="0"/>
            </a:br>
            <a:endParaRPr lang="pt-BR" sz="16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198DF0-033D-88C6-A39A-07B7A8AC68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390651"/>
            <a:ext cx="7821912" cy="4686300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50000"/>
              </a:lnSpc>
            </a:pPr>
            <a:r>
              <a:rPr lang="pt-BR" sz="1200" b="1" dirty="0"/>
              <a:t>A análise por faixas reforça a relação observada: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  </a:t>
            </a:r>
            <a:r>
              <a:rPr lang="pt-BR" sz="1200" b="1" dirty="0"/>
              <a:t>Alunos com maior desempenho (IDA) apresentam IPV mais elevado; 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Níveis mais altos de engajamento (IEG) estão associados a melhores resultados; 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Avaliações psicopedagógicas mais altas (IPP) também acompanham aumento no IPV; 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O comportamento é consistente e crescente em todos os indicadores.</a:t>
            </a:r>
            <a:br>
              <a:rPr lang="pt-BR" sz="1200" b="1" dirty="0"/>
            </a:br>
            <a:endParaRPr lang="pt-BR" sz="1200" b="1" dirty="0">
              <a:highlight>
                <a:srgbClr val="282A2C"/>
              </a:highlight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7969000C-2149-328A-0FB3-EF0A13289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61B13AC-0A56-43BD-92D3-7DC1B6743E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398" y="1657349"/>
            <a:ext cx="2587677" cy="237172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01B67E2-7545-C189-55C5-1ABC0D461A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173" y="1657350"/>
            <a:ext cx="2587678" cy="237172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75979B0-B99D-17A7-8F85-17460FEB0B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5673" y="1657350"/>
            <a:ext cx="2587678" cy="237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720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7A0E06-41B6-954C-5538-82BEF2C35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70EC12-F22F-B002-3FA3-E1216ACD32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617" y="375452"/>
            <a:ext cx="7821912" cy="687951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800" b="1" dirty="0">
                <a:solidFill>
                  <a:schemeClr val="tx1"/>
                </a:solidFill>
              </a:rPr>
              <a:t>Relação entre o Índice de Desenvolvimento Educacional (INDE) </a:t>
            </a:r>
            <a:br>
              <a:rPr lang="pt-BR" sz="1800" b="1" dirty="0">
                <a:solidFill>
                  <a:schemeClr val="tx1"/>
                </a:solidFill>
              </a:rPr>
            </a:br>
            <a:r>
              <a:rPr lang="pt-BR" sz="1800" b="1" dirty="0">
                <a:solidFill>
                  <a:schemeClr val="tx1"/>
                </a:solidFill>
              </a:rPr>
              <a:t>e os demais indicadores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B16D10-64F1-487C-E7AD-4FFCA4A17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390650"/>
            <a:ext cx="7821912" cy="5383775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50000"/>
              </a:lnSpc>
            </a:pPr>
            <a:br>
              <a:rPr lang="pt-BR" sz="1200" b="1" dirty="0"/>
            </a:br>
            <a:r>
              <a:rPr lang="pt-BR" sz="1200" b="1" dirty="0"/>
              <a:t>      A análise de correlação mostra que o INDE é influenciado por diversos indicadores:</a:t>
            </a:r>
            <a:br>
              <a:rPr lang="pt-BR" sz="1200" b="1" dirty="0"/>
            </a:br>
            <a:r>
              <a:rPr lang="pt-BR" sz="1200" b="1" dirty="0"/>
              <a:t>       </a:t>
            </a:r>
            <a:r>
              <a:rPr lang="pt-BR" sz="1200" b="1" dirty="0">
                <a:solidFill>
                  <a:srgbClr val="0070C0"/>
                </a:solidFill>
              </a:rPr>
              <a:t> •  </a:t>
            </a:r>
            <a:r>
              <a:rPr lang="pt-BR" sz="1200" b="1" dirty="0"/>
              <a:t>Desempenho acadêmico (IDA): 0.77; </a:t>
            </a:r>
            <a:br>
              <a:rPr lang="pt-BR" sz="1200" b="1" dirty="0"/>
            </a:br>
            <a:r>
              <a:rPr lang="pt-BR" sz="1200" b="1" dirty="0"/>
              <a:t>       </a:t>
            </a:r>
            <a:r>
              <a:rPr lang="pt-BR" sz="1200" b="1" dirty="0">
                <a:solidFill>
                  <a:srgbClr val="0070C0"/>
                </a:solidFill>
              </a:rPr>
              <a:t> •  </a:t>
            </a:r>
            <a:r>
              <a:rPr lang="pt-BR" sz="1200" b="1" dirty="0"/>
              <a:t>Engajamento (IEG): 0.71; </a:t>
            </a:r>
            <a:br>
              <a:rPr lang="pt-BR" sz="1200" b="1" dirty="0"/>
            </a:br>
            <a:r>
              <a:rPr lang="pt-BR" sz="1200" b="1" dirty="0"/>
              <a:t>       </a:t>
            </a:r>
            <a:r>
              <a:rPr lang="pt-BR" sz="1200" b="1" dirty="0">
                <a:solidFill>
                  <a:srgbClr val="0070C0"/>
                </a:solidFill>
              </a:rPr>
              <a:t> •  </a:t>
            </a:r>
            <a:r>
              <a:rPr lang="pt-BR" sz="1200" b="1" dirty="0"/>
              <a:t>Ponto de virada (IPV): 0.68;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        •  </a:t>
            </a:r>
            <a:r>
              <a:rPr lang="pt-BR" sz="1200" b="1" dirty="0"/>
              <a:t>Avaliação psicopedagógica (IPP): 0.54;</a:t>
            </a:r>
            <a:br>
              <a:rPr lang="pt-BR" sz="1200" b="1" dirty="0"/>
            </a:br>
            <a:r>
              <a:rPr lang="pt-BR" sz="1200" b="1" dirty="0"/>
              <a:t>        </a:t>
            </a: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Outros fatores apresentam menor impacto;</a:t>
            </a:r>
            <a:br>
              <a:rPr lang="pt-BR" sz="1200" b="1" dirty="0"/>
            </a:br>
            <a:r>
              <a:rPr lang="pt-BR" sz="1200" b="1" dirty="0"/>
              <a:t>        </a:t>
            </a: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O desempenho global é determinado principalmente por fatores acadêmicos e comportamentais.</a:t>
            </a:r>
            <a:endParaRPr lang="pt-BR" sz="1200" b="1" dirty="0">
              <a:highlight>
                <a:srgbClr val="282A2C"/>
              </a:highlight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7E30038C-0D16-EF35-3155-9792A08AE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58B59D6-76E0-6B2C-BB44-DADD6B4198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085" y="1581422"/>
            <a:ext cx="5358580" cy="293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4580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2A8F58-0B1C-15B7-0643-21B854F44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4F16BF-9E63-EB4F-E674-D96BED442C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617" y="412954"/>
            <a:ext cx="7821912" cy="481841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Combinações de Indicadores que mais elevam a nota global do aluno (INDE)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CC5691-A6A0-32E2-0DC2-AA1D0CE12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219200"/>
            <a:ext cx="7821912" cy="5638800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50000"/>
              </a:lnSpc>
            </a:pPr>
            <a:endParaRPr lang="pt-BR" sz="1200" b="1" dirty="0"/>
          </a:p>
          <a:p>
            <a:pPr algn="l">
              <a:lnSpc>
                <a:spcPct val="150000"/>
              </a:lnSpc>
            </a:pPr>
            <a:r>
              <a:rPr lang="pt-BR" sz="1200" b="1" dirty="0"/>
              <a:t>        </a:t>
            </a:r>
            <a:r>
              <a:rPr lang="pt-BR" sz="1100" b="1" dirty="0"/>
              <a:t>A análise das combinações revela que os maiores valores de INDE ocorrem quando:</a:t>
            </a:r>
          </a:p>
          <a:p>
            <a:pPr algn="l">
              <a:lnSpc>
                <a:spcPct val="100000"/>
              </a:lnSpc>
            </a:pPr>
            <a:r>
              <a:rPr lang="pt-BR" sz="1100" b="1" dirty="0"/>
              <a:t>           </a:t>
            </a:r>
            <a:r>
              <a:rPr lang="pt-BR" sz="1100" b="1" dirty="0">
                <a:solidFill>
                  <a:srgbClr val="0070C0"/>
                </a:solidFill>
              </a:rPr>
              <a:t>• </a:t>
            </a:r>
            <a:r>
              <a:rPr lang="pt-BR" sz="1100" b="1" dirty="0"/>
              <a:t> O aluno apresenta alto desempenho acadêmico (IDA);</a:t>
            </a:r>
          </a:p>
          <a:p>
            <a:pPr algn="l">
              <a:lnSpc>
                <a:spcPct val="100000"/>
              </a:lnSpc>
            </a:pPr>
            <a:r>
              <a:rPr lang="pt-BR" sz="1100" b="1" dirty="0"/>
              <a:t>           </a:t>
            </a:r>
            <a:r>
              <a:rPr lang="pt-BR" sz="1100" b="1" dirty="0">
                <a:solidFill>
                  <a:srgbClr val="0070C0"/>
                </a:solidFill>
              </a:rPr>
              <a:t>• </a:t>
            </a:r>
            <a:r>
              <a:rPr lang="pt-BR" sz="1100" b="1" dirty="0"/>
              <a:t> Possui alto nível de engajamento (IEG);</a:t>
            </a:r>
          </a:p>
          <a:p>
            <a:pPr algn="l">
              <a:lnSpc>
                <a:spcPct val="100000"/>
              </a:lnSpc>
            </a:pPr>
            <a:r>
              <a:rPr lang="pt-BR" sz="1100" b="1" dirty="0"/>
              <a:t>          </a:t>
            </a:r>
            <a:r>
              <a:rPr lang="pt-BR" sz="1100" b="1" dirty="0">
                <a:solidFill>
                  <a:srgbClr val="0070C0"/>
                </a:solidFill>
              </a:rPr>
              <a:t> •  </a:t>
            </a:r>
            <a:r>
              <a:rPr lang="pt-BR" sz="1100" b="1" dirty="0"/>
              <a:t>Demonstra evolução consistente (IPV);</a:t>
            </a:r>
          </a:p>
          <a:p>
            <a:pPr algn="l">
              <a:lnSpc>
                <a:spcPct val="100000"/>
              </a:lnSpc>
            </a:pPr>
            <a:r>
              <a:rPr lang="pt-BR" sz="1100" b="1" dirty="0"/>
              <a:t>           </a:t>
            </a:r>
            <a:r>
              <a:rPr lang="pt-BR" sz="1100" b="1" dirty="0">
                <a:solidFill>
                  <a:srgbClr val="0070C0"/>
                </a:solidFill>
              </a:rPr>
              <a:t>•</a:t>
            </a:r>
            <a:r>
              <a:rPr lang="pt-BR" sz="1100" b="1" dirty="0"/>
              <a:t>  Apresenta suporte psicopedagógico adequado (IPP);  </a:t>
            </a:r>
          </a:p>
          <a:p>
            <a:pPr algn="l">
              <a:lnSpc>
                <a:spcPct val="100000"/>
              </a:lnSpc>
            </a:pPr>
            <a:r>
              <a:rPr lang="pt-BR" sz="1100" b="1" dirty="0"/>
              <a:t>           </a:t>
            </a:r>
            <a:r>
              <a:rPr lang="pt-BR" sz="1100" b="1" dirty="0">
                <a:solidFill>
                  <a:srgbClr val="0070C0"/>
                </a:solidFill>
              </a:rPr>
              <a:t>• </a:t>
            </a:r>
            <a:r>
              <a:rPr lang="pt-BR" sz="1100" b="1" dirty="0"/>
              <a:t> O sucesso do aluno é multidimensional e depende da combinação simultânea entre desempenho,          </a:t>
            </a:r>
            <a:r>
              <a:rPr lang="pt-BR" sz="1100" b="1" dirty="0">
                <a:solidFill>
                  <a:schemeClr val="bg1"/>
                </a:solidFill>
              </a:rPr>
              <a:t>eeeeeee</a:t>
            </a:r>
            <a:r>
              <a:rPr lang="pt-BR" sz="1100" b="1" dirty="0"/>
              <a:t>engajamento,  evolução e suporte pedagógico.</a:t>
            </a: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F8BF1DF4-980D-7B15-C41F-3652BF0AB8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166C9AF-2D60-504C-7AD6-A8C2151D71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737" y="1296219"/>
            <a:ext cx="6067672" cy="323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4846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2A69EA-24AC-15C5-3C34-FA54E58AF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798113-B2D4-8DA2-63CB-993A4D72F6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617" y="412954"/>
            <a:ext cx="7821912" cy="481841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600" b="1" dirty="0"/>
              <a:t>Evolução do desempenho global ao longo das fases do programa</a:t>
            </a:r>
            <a:endParaRPr lang="pt-BR" sz="16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3277D8-DFFD-28FD-6E22-12E4348405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0206" y="1219200"/>
            <a:ext cx="7600336" cy="5225846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50000"/>
              </a:lnSpc>
            </a:pPr>
            <a:r>
              <a:rPr lang="pt-BR" sz="1100" dirty="0"/>
              <a:t> </a:t>
            </a:r>
            <a:r>
              <a:rPr lang="pt-BR" sz="1200" b="1" dirty="0"/>
              <a:t>A análise do INDE médio por fase evidencia uma evolução consistente do desempenho dos alunos:</a:t>
            </a:r>
            <a:br>
              <a:rPr lang="pt-BR" sz="1200" b="1" dirty="0"/>
            </a:br>
            <a:r>
              <a:rPr lang="pt-BR" sz="1200" b="1" dirty="0"/>
              <a:t>  </a:t>
            </a: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Quartzo: ~5.4 </a:t>
            </a:r>
            <a:br>
              <a:rPr lang="pt-BR" sz="1200" b="1" dirty="0"/>
            </a:br>
            <a:r>
              <a:rPr lang="pt-BR" sz="1200" b="1" dirty="0"/>
              <a:t>  </a:t>
            </a: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Ágata: ~6.6 </a:t>
            </a:r>
            <a:br>
              <a:rPr lang="pt-BR" sz="1200" b="1" dirty="0"/>
            </a:br>
            <a:r>
              <a:rPr lang="pt-BR" sz="1200" b="1" dirty="0"/>
              <a:t>  </a:t>
            </a:r>
            <a:r>
              <a:rPr lang="pt-BR" sz="1200" b="1" dirty="0">
                <a:solidFill>
                  <a:srgbClr val="00B0F0"/>
                </a:solidFill>
              </a:rPr>
              <a:t>•</a:t>
            </a:r>
            <a:r>
              <a:rPr lang="pt-BR" sz="1200" b="1" dirty="0"/>
              <a:t>  Ametista: ~7.5 </a:t>
            </a:r>
            <a:br>
              <a:rPr lang="pt-BR" sz="1200" b="1" dirty="0"/>
            </a:br>
            <a:r>
              <a:rPr lang="pt-BR" sz="1200" b="1" dirty="0"/>
              <a:t>  </a:t>
            </a:r>
            <a:r>
              <a:rPr lang="pt-BR" sz="1200" b="1" dirty="0">
                <a:solidFill>
                  <a:srgbClr val="00B0F0"/>
                </a:solidFill>
              </a:rPr>
              <a:t>•</a:t>
            </a:r>
            <a:r>
              <a:rPr lang="pt-BR" sz="1200" b="1" dirty="0"/>
              <a:t>  Topázio: ~8.4 </a:t>
            </a:r>
            <a:br>
              <a:rPr lang="pt-BR" sz="1200" b="1" dirty="0"/>
            </a:br>
            <a:r>
              <a:rPr lang="pt-BR" sz="1200" b="1" dirty="0"/>
              <a:t>Observa-se crescimento contínuo entre todas as fases, indicando progressão estruturada ao longo do programa.</a:t>
            </a: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5DCA25C7-0141-C7E1-9F27-5C103FE81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4FF161C-20DD-1FC1-72ED-09CFA2ED6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102" y="1419121"/>
            <a:ext cx="5102942" cy="249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2222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5E75A7-059F-82B0-9D81-5B5F88607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412C48-F915-9161-1A44-B4449D5F04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617" y="412954"/>
            <a:ext cx="7821912" cy="481841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600" b="1" dirty="0">
                <a:solidFill>
                  <a:schemeClr val="tx1"/>
                </a:solidFill>
              </a:rPr>
              <a:t>Distribuição do INDE nas diferentes fases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7CB462-60C8-72F5-BC39-9FD4BF8B2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0206" y="1219200"/>
            <a:ext cx="7600336" cy="5225846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00000"/>
              </a:lnSpc>
            </a:pPr>
            <a:r>
              <a:rPr lang="pt-BR" sz="1200" b="1" dirty="0"/>
              <a:t>A análise da distribuição do INDE confirma o padrão de evolução observado:</a:t>
            </a:r>
          </a:p>
          <a:p>
            <a:pPr algn="l">
              <a:lnSpc>
                <a:spcPct val="100000"/>
              </a:lnSpc>
            </a:pP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A mediana do desempenho aumenta progressivamente entre as fases;  </a:t>
            </a:r>
          </a:p>
          <a:p>
            <a:pPr algn="l">
              <a:lnSpc>
                <a:spcPct val="100000"/>
              </a:lnSpc>
            </a:pP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A dispersão diminui nas fases mais avançadas; </a:t>
            </a:r>
          </a:p>
          <a:p>
            <a:pPr algn="l">
              <a:lnSpc>
                <a:spcPct val="100000"/>
              </a:lnSpc>
            </a:pP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Alunos em fases superiores apresentam desempenho mais elevado e consistente;  </a:t>
            </a:r>
          </a:p>
          <a:p>
            <a:pPr algn="l">
              <a:lnSpc>
                <a:spcPct val="100000"/>
              </a:lnSpc>
            </a:pP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O programa promove não apenas melhora média, mas também maior estabilidade nos resultados.</a:t>
            </a: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0EEA51B5-5B2B-E76F-533D-8FFD94468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50A3543-C9F2-CCA9-913A-0BD13029F2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838" y="1386349"/>
            <a:ext cx="5723470" cy="276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5939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E8D41B-DCF0-27FF-F9F3-7D1A1DF38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39DA7E-E573-D25D-1892-18393331D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617" y="412954"/>
            <a:ext cx="7821912" cy="481841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600" b="1" dirty="0"/>
              <a:t>Evolução dos principais indicadores ao longo das fases</a:t>
            </a:r>
            <a:endParaRPr lang="pt-BR" sz="16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A19DF8-E389-1F1F-D6B3-97FCF6108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0206" y="1219199"/>
            <a:ext cx="7600336" cy="5456903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50000"/>
              </a:lnSpc>
            </a:pPr>
            <a:endParaRPr lang="pt-BR" sz="1200" b="1" dirty="0"/>
          </a:p>
          <a:p>
            <a:pPr algn="l">
              <a:lnSpc>
                <a:spcPct val="150000"/>
              </a:lnSpc>
            </a:pPr>
            <a:r>
              <a:rPr lang="pt-BR" sz="1200" b="1" dirty="0"/>
              <a:t>A melhora do desempenho global é sustentada pela evolução consistente dos principais indicadores:</a:t>
            </a:r>
            <a:br>
              <a:rPr lang="pt-BR" sz="1200" b="1" dirty="0"/>
            </a:br>
            <a:r>
              <a:rPr lang="pt-BR" sz="1200" b="1" dirty="0">
                <a:solidFill>
                  <a:srgbClr val="00B0F0"/>
                </a:solidFill>
              </a:rPr>
              <a:t>•</a:t>
            </a:r>
            <a:r>
              <a:rPr lang="pt-BR" sz="1200" b="1" dirty="0"/>
              <a:t>  IDA (desempenho acadêmico) apresenta crescimento contínuo; </a:t>
            </a:r>
            <a:br>
              <a:rPr lang="pt-BR" sz="1200" b="1" dirty="0"/>
            </a:b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IEG (engajamento) aumenta significativamente entre as fases; </a:t>
            </a:r>
            <a:br>
              <a:rPr lang="pt-BR" sz="1200" b="1" dirty="0"/>
            </a:b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IPV (evolução do aluno) acompanha essa progressão; </a:t>
            </a:r>
            <a:br>
              <a:rPr lang="pt-BR" sz="1200" b="1" dirty="0"/>
            </a:br>
            <a:r>
              <a:rPr lang="pt-BR" sz="1200" b="1" dirty="0">
                <a:solidFill>
                  <a:srgbClr val="00B0F0"/>
                </a:solidFill>
              </a:rPr>
              <a:t>•</a:t>
            </a:r>
            <a:r>
              <a:rPr lang="pt-BR" sz="1200" b="1" dirty="0"/>
              <a:t>  A evolução observada indica impacto real, progressivo e sustentado do programa ao longo da trajetória dos alunos.</a:t>
            </a: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A8BAF19C-1A11-6E63-6BC3-B78F9CAD0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ACE1D92-8000-D282-96B3-D79C3662D0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145" y="1474062"/>
            <a:ext cx="5328855" cy="274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2470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ED44D8-1D02-237C-E898-F840F31C8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D8797F-EC96-C061-9A88-44C23D805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8496" y="363794"/>
            <a:ext cx="5614219" cy="619432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2000" b="1" dirty="0">
                <a:solidFill>
                  <a:schemeClr val="tx1"/>
                </a:solidFill>
              </a:rPr>
              <a:t>Análises Complementares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8AE7F9-3D3B-49BA-817E-A9050C4AA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8928" y="1219199"/>
            <a:ext cx="7582433" cy="5456903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00000"/>
              </a:lnSpc>
            </a:pPr>
            <a:r>
              <a:rPr lang="pt-BR" sz="1400" b="1" dirty="0"/>
              <a:t>As análises complementares revelam padrões adicionais relevantes para compreensão do desempenho dos alunos:</a:t>
            </a:r>
          </a:p>
          <a:p>
            <a:pPr algn="l">
              <a:lnSpc>
                <a:spcPct val="100000"/>
              </a:lnSpc>
            </a:pPr>
            <a:r>
              <a:rPr lang="pt-BR" sz="1400" b="1" dirty="0">
                <a:solidFill>
                  <a:srgbClr val="00B0F0"/>
                </a:solidFill>
              </a:rPr>
              <a:t>•</a:t>
            </a:r>
            <a:r>
              <a:rPr lang="pt-BR" sz="1400" b="1" dirty="0"/>
              <a:t>  Observa-se melhoria consistente na distribuição do INDE ao longo dos anos;</a:t>
            </a:r>
          </a:p>
          <a:p>
            <a:pPr algn="l">
              <a:lnSpc>
                <a:spcPct val="100000"/>
              </a:lnSpc>
            </a:pPr>
            <a:r>
              <a:rPr lang="pt-BR" sz="1400" b="1" dirty="0">
                <a:solidFill>
                  <a:srgbClr val="00B0F0"/>
                </a:solidFill>
              </a:rPr>
              <a:t>•</a:t>
            </a:r>
            <a:r>
              <a:rPr lang="pt-BR" sz="1400" b="1" dirty="0"/>
              <a:t>  Alunos vinculados a programas com apoio (ex.: bolsa/apadrinhamento) apresentam melhor desempenho médio;</a:t>
            </a:r>
          </a:p>
          <a:p>
            <a:pPr algn="l">
              <a:lnSpc>
                <a:spcPct val="100000"/>
              </a:lnSpc>
            </a:pPr>
            <a:r>
              <a:rPr lang="pt-BR" sz="1400" b="1" dirty="0">
                <a:solidFill>
                  <a:srgbClr val="00B0F0"/>
                </a:solidFill>
              </a:rPr>
              <a:t>• </a:t>
            </a:r>
            <a:r>
              <a:rPr lang="pt-BR" sz="1400" b="1" dirty="0"/>
              <a:t> A idade apresenta baixa capacidade explicativa isolada sobre o desempenho.</a:t>
            </a: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C9104CCD-2F90-CE26-8DE7-F70618BFD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064C66A-1E4F-41BB-9AA2-0DDA8FB86D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928" y="1313415"/>
            <a:ext cx="3765755" cy="259982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720F3B1-F610-103F-C8FB-FBA59AB746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5606" y="1313414"/>
            <a:ext cx="3765755" cy="259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8555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1D5F40-9B84-7179-3214-4F23CD3EA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E8E10-4C03-F61E-1ED2-542B681C3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418" y="531103"/>
            <a:ext cx="7821912" cy="619433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2000" b="1" dirty="0"/>
              <a:t>Modelo preditivo para identificação de risco de defasagem</a:t>
            </a:r>
            <a:endParaRPr lang="pt-BR" sz="20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9A59E4-A5BD-3F8C-9D61-CF1493D78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0206" y="1774561"/>
            <a:ext cx="7600336" cy="4552336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l"/>
            <a:r>
              <a:rPr lang="pt-BR" sz="1600" b="1" dirty="0"/>
              <a:t>Foi desenvolvido um modelo de machine learning capaz de estimar a     probabilidade de um aluno entrar em risco de defasagem. O modelo foi treinado com dados históricos dos alunos.</a:t>
            </a:r>
          </a:p>
          <a:p>
            <a:pPr algn="l"/>
            <a:br>
              <a:rPr lang="pt-BR" sz="1600" b="1" dirty="0"/>
            </a:br>
            <a:r>
              <a:rPr lang="pt-BR" sz="1600" b="1" dirty="0"/>
              <a:t>O modelo considera padrões relacionados a:</a:t>
            </a:r>
            <a:br>
              <a:rPr lang="pt-BR" sz="1600" b="1" dirty="0"/>
            </a:br>
            <a:r>
              <a:rPr lang="pt-BR" sz="1600" b="1" dirty="0"/>
              <a:t>  </a:t>
            </a:r>
            <a:r>
              <a:rPr lang="pt-BR" sz="1600" b="1" dirty="0">
                <a:solidFill>
                  <a:srgbClr val="00B0F0"/>
                </a:solidFill>
              </a:rPr>
              <a:t>•</a:t>
            </a:r>
            <a:r>
              <a:rPr lang="pt-BR" sz="1600" b="1" dirty="0"/>
              <a:t>  Desempenho acadêmico; </a:t>
            </a:r>
            <a:br>
              <a:rPr lang="pt-BR" sz="1600" b="1" dirty="0"/>
            </a:br>
            <a:r>
              <a:rPr lang="pt-BR" sz="1600" b="1" dirty="0"/>
              <a:t>  </a:t>
            </a:r>
            <a:r>
              <a:rPr lang="pt-BR" sz="1600" b="1" dirty="0">
                <a:solidFill>
                  <a:srgbClr val="00B0F0"/>
                </a:solidFill>
              </a:rPr>
              <a:t>• </a:t>
            </a:r>
            <a:r>
              <a:rPr lang="pt-BR" sz="1600" b="1" dirty="0"/>
              <a:t> Engajamento; </a:t>
            </a:r>
            <a:br>
              <a:rPr lang="pt-BR" sz="1600" b="1" dirty="0"/>
            </a:br>
            <a:r>
              <a:rPr lang="pt-BR" sz="1600" b="1" dirty="0"/>
              <a:t>  </a:t>
            </a:r>
            <a:r>
              <a:rPr lang="pt-BR" sz="1600" b="1" dirty="0">
                <a:solidFill>
                  <a:srgbClr val="00B0F0"/>
                </a:solidFill>
              </a:rPr>
              <a:t>•</a:t>
            </a:r>
            <a:r>
              <a:rPr lang="pt-BR" sz="1600" b="1" dirty="0"/>
              <a:t>  Evolução do aluno.</a:t>
            </a:r>
            <a:br>
              <a:rPr lang="pt-BR" sz="1600" b="1" dirty="0"/>
            </a:br>
            <a:br>
              <a:rPr lang="pt-BR" sz="1600" b="1" dirty="0"/>
            </a:br>
            <a:r>
              <a:rPr lang="pt-BR" sz="1600" b="1" dirty="0"/>
              <a:t>Objetivo:</a:t>
            </a:r>
            <a:br>
              <a:rPr lang="pt-BR" sz="1600" b="1" dirty="0"/>
            </a:br>
            <a:r>
              <a:rPr lang="pt-BR" sz="1600" b="1" dirty="0"/>
              <a:t>Permitir a identificação antecipada de alunos em risco, apoiando ações preventivas.</a:t>
            </a:r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dirty="0"/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B984ED01-8149-40DF-AAC3-B77953D0B8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8939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0D20B-224E-2FAE-E00C-ECE7FD6C4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33F20-DFDD-724A-64C9-5D51ECBBB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683" y="678587"/>
            <a:ext cx="6875382" cy="619433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2400" b="1" dirty="0">
                <a:solidFill>
                  <a:schemeClr val="tx1"/>
                </a:solidFill>
              </a:rPr>
              <a:t>Resultados do Modelo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88443D-9603-CC1B-1812-53F3831C44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0206" y="2143431"/>
            <a:ext cx="7600336" cy="4035981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>
              <a:lnSpc>
                <a:spcPct val="200000"/>
              </a:lnSpc>
            </a:pPr>
            <a:br>
              <a:rPr lang="pt-BR" sz="1200" dirty="0"/>
            </a:br>
            <a:r>
              <a:rPr lang="pt-BR" sz="1200" dirty="0"/>
              <a:t>  </a:t>
            </a:r>
            <a:r>
              <a:rPr lang="pt-BR" sz="1600" b="1" dirty="0"/>
              <a:t>O modelo apresentou desempenho consistente:</a:t>
            </a:r>
            <a:br>
              <a:rPr lang="pt-BR" sz="1600" b="1" dirty="0"/>
            </a:br>
            <a:r>
              <a:rPr lang="pt-BR" sz="1600" b="1" dirty="0"/>
              <a:t>   </a:t>
            </a:r>
            <a:r>
              <a:rPr lang="pt-BR" sz="1600" b="1" dirty="0">
                <a:solidFill>
                  <a:srgbClr val="00B0F0"/>
                </a:solidFill>
              </a:rPr>
              <a:t>• </a:t>
            </a:r>
            <a:r>
              <a:rPr lang="pt-BR" sz="1600" b="1" dirty="0"/>
              <a:t> Boa capacidade de distinção entre alunos com e sem risco (AUC = 0.85); </a:t>
            </a:r>
            <a:br>
              <a:rPr lang="pt-BR" sz="1600" b="1" dirty="0"/>
            </a:br>
            <a:r>
              <a:rPr lang="pt-BR" sz="1600" b="1" dirty="0"/>
              <a:t>   </a:t>
            </a:r>
            <a:r>
              <a:rPr lang="pt-BR" sz="1600" b="1" dirty="0">
                <a:solidFill>
                  <a:srgbClr val="00B0F0"/>
                </a:solidFill>
              </a:rPr>
              <a:t>•</a:t>
            </a:r>
            <a:r>
              <a:rPr lang="pt-BR" sz="1600" b="1" dirty="0"/>
              <a:t>  Alto nível de acerto geral (Accuracy = 0.78);</a:t>
            </a:r>
            <a:br>
              <a:rPr lang="pt-BR" sz="1600" b="1" dirty="0"/>
            </a:br>
            <a:r>
              <a:rPr lang="pt-BR" sz="1600" b="1" dirty="0"/>
              <a:t>   </a:t>
            </a:r>
            <a:r>
              <a:rPr lang="pt-BR" sz="1600" b="1" dirty="0">
                <a:solidFill>
                  <a:srgbClr val="00B0F0"/>
                </a:solidFill>
              </a:rPr>
              <a:t>•</a:t>
            </a:r>
            <a:r>
              <a:rPr lang="pt-BR" sz="1600" b="1" dirty="0"/>
              <a:t>  Capacidade de identificar a maioria dos alunos em risco (Recall = 0.77).</a:t>
            </a:r>
            <a:br>
              <a:rPr lang="pt-BR" sz="1600" b="1" dirty="0"/>
            </a:br>
            <a:br>
              <a:rPr lang="pt-BR" sz="1600" b="1" dirty="0"/>
            </a:br>
            <a:r>
              <a:rPr lang="pt-BR" sz="1600" b="1" dirty="0"/>
              <a:t>  Essas métricas indicam que o modelo é confiável para apoiar ações</a:t>
            </a:r>
          </a:p>
          <a:p>
            <a:pPr algn="l"/>
            <a:r>
              <a:rPr lang="pt-BR" sz="1600" b="1" dirty="0"/>
              <a:t>  preventivas e priorização de intervenções.</a:t>
            </a:r>
          </a:p>
          <a:p>
            <a:pPr algn="l"/>
            <a:br>
              <a:rPr lang="pt-BR" sz="1600" b="1" dirty="0"/>
            </a:br>
            <a:br>
              <a:rPr lang="pt-BR" sz="1600" b="1" dirty="0"/>
            </a:b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dirty="0"/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E86CCB41-C28B-505A-FF50-1CD5C6C0B7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9086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4F32B-09EB-D886-B3E1-34B57FC72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0C6421-BBBD-7E3E-C2F9-56DEC79B1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206" y="341687"/>
            <a:ext cx="7600336" cy="432458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pt-BR" sz="1600" b="1" dirty="0"/>
            </a:br>
            <a:r>
              <a:rPr lang="pt-BR" sz="1600" b="1" dirty="0"/>
              <a:t>Aplicação operacional para identificação antecipada de risco</a:t>
            </a:r>
            <a:br>
              <a:rPr lang="pt-BR" sz="1600" dirty="0"/>
            </a:br>
            <a:endParaRPr lang="pt-BR" sz="16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F2364C-23F9-AACD-AECA-EA55BFF18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1548" y="1101213"/>
            <a:ext cx="7777316" cy="5756787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/>
          </a:p>
          <a:p>
            <a:pPr algn="l"/>
            <a:endParaRPr lang="pt-BR" sz="1400" dirty="0"/>
          </a:p>
          <a:p>
            <a:pPr algn="l"/>
            <a:endParaRPr lang="pt-BR" sz="1400" dirty="0"/>
          </a:p>
          <a:p>
            <a:pPr algn="l"/>
            <a:endParaRPr lang="pt-BR" sz="1400" dirty="0"/>
          </a:p>
          <a:p>
            <a:pPr algn="l"/>
            <a:endParaRPr lang="pt-BR" sz="1200" b="1" dirty="0"/>
          </a:p>
          <a:p>
            <a:pPr algn="l"/>
            <a:endParaRPr lang="pt-BR" sz="1100" b="1" dirty="0"/>
          </a:p>
          <a:p>
            <a:pPr algn="l"/>
            <a:endParaRPr lang="pt-BR" sz="1100" b="1" dirty="0"/>
          </a:p>
          <a:p>
            <a:pPr algn="l"/>
            <a:endParaRPr lang="pt-BR" sz="1050" b="1" dirty="0"/>
          </a:p>
          <a:p>
            <a:pPr algn="l"/>
            <a:endParaRPr lang="pt-BR" sz="1050" b="1" dirty="0"/>
          </a:p>
          <a:p>
            <a:pPr algn="l"/>
            <a:r>
              <a:rPr lang="pt-BR" sz="1050" b="1" dirty="0"/>
              <a:t>Foi desenvolvida uma aplicação interativa que utiliza o modelo preditivo, e permite identificar de forma simples e rápida, alunos com maior probabilidade de risco de defasagem.</a:t>
            </a:r>
            <a:br>
              <a:rPr lang="pt-BR" sz="1050" b="1" dirty="0"/>
            </a:br>
            <a:br>
              <a:rPr lang="pt-BR" sz="1050" b="1" dirty="0"/>
            </a:br>
            <a:r>
              <a:rPr lang="pt-BR" sz="1050" b="1" dirty="0"/>
              <a:t>A ferramenta permite:</a:t>
            </a:r>
            <a:br>
              <a:rPr lang="pt-BR" sz="1050" b="1" dirty="0"/>
            </a:br>
            <a:r>
              <a:rPr lang="pt-BR" sz="1050" b="1" dirty="0">
                <a:solidFill>
                  <a:srgbClr val="00B0F0"/>
                </a:solidFill>
              </a:rPr>
              <a:t>• </a:t>
            </a:r>
            <a:r>
              <a:rPr lang="pt-BR" sz="1050" b="1" dirty="0"/>
              <a:t> Inserção dos dados do aluno de forma intuitiva;</a:t>
            </a:r>
            <a:br>
              <a:rPr lang="pt-BR" sz="1050" b="1" dirty="0"/>
            </a:br>
            <a:r>
              <a:rPr lang="pt-BR" sz="1050" b="1" dirty="0">
                <a:solidFill>
                  <a:srgbClr val="00B0F0"/>
                </a:solidFill>
              </a:rPr>
              <a:t>• </a:t>
            </a:r>
            <a:r>
              <a:rPr lang="pt-BR" sz="1050" b="1" dirty="0"/>
              <a:t> Cálculo automático da probabilidade de risco em tempo real;</a:t>
            </a:r>
            <a:br>
              <a:rPr lang="pt-BR" sz="1050" b="1" dirty="0"/>
            </a:br>
            <a:r>
              <a:rPr lang="pt-BR" sz="1050" b="1" dirty="0">
                <a:solidFill>
                  <a:srgbClr val="00B0F0"/>
                </a:solidFill>
              </a:rPr>
              <a:t>• </a:t>
            </a:r>
            <a:r>
              <a:rPr lang="pt-BR" sz="1050" b="1" dirty="0"/>
              <a:t> Classificação do nível de risco (baixo, moderado, alto e crítico</a:t>
            </a:r>
            <a:br>
              <a:rPr lang="pt-BR" sz="1050" b="1" dirty="0"/>
            </a:br>
            <a:r>
              <a:rPr lang="pt-BR" sz="1050" b="1" dirty="0">
                <a:solidFill>
                  <a:srgbClr val="00B0F0"/>
                </a:solidFill>
              </a:rPr>
              <a:t>• </a:t>
            </a:r>
            <a:r>
              <a:rPr lang="pt-BR" sz="1050" b="1" dirty="0"/>
              <a:t> Apoio à priorização de intervenções;</a:t>
            </a:r>
            <a:br>
              <a:rPr lang="pt-BR" sz="1050" b="1" dirty="0"/>
            </a:br>
            <a:r>
              <a:rPr lang="pt-BR" sz="1050" b="1" dirty="0">
                <a:solidFill>
                  <a:srgbClr val="00B0F0"/>
                </a:solidFill>
              </a:rPr>
              <a:t>• </a:t>
            </a:r>
            <a:r>
              <a:rPr lang="pt-BR" sz="1050" b="1" dirty="0"/>
              <a:t> Possibilidade de atuação preventiva mais eficaz.</a:t>
            </a:r>
            <a:br>
              <a:rPr lang="pt-BR" sz="1050" b="1" dirty="0"/>
            </a:br>
            <a:br>
              <a:rPr lang="pt-BR" sz="1050" b="1" dirty="0"/>
            </a:br>
            <a:r>
              <a:rPr lang="pt-BR" sz="1050" b="1" dirty="0"/>
              <a:t>A aplicação transforma o modelo analítico em uma solução prática para uso no dia a dia da ONG Passos Mágicos.</a:t>
            </a:r>
            <a:br>
              <a:rPr lang="pt-BR" sz="1050" b="1" dirty="0"/>
            </a:br>
            <a:br>
              <a:rPr lang="pt-BR" sz="1400" b="1" dirty="0"/>
            </a:br>
            <a:endParaRPr lang="pt-BR" sz="11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dirty="0"/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4CBC1884-912E-01D4-37CB-5377DA62B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A05A900-BC96-5CE1-B8C3-AB19B6D8F1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942" y="1101213"/>
            <a:ext cx="7334864" cy="303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5944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CC775D-E826-30D8-62B3-5A3C457C2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64220C-B39A-0401-F7C2-5FBAD2B3B4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2321" y="430177"/>
            <a:ext cx="6125497" cy="499133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800" b="1" dirty="0">
                <a:solidFill>
                  <a:schemeClr val="tx1"/>
                </a:solidFill>
              </a:rPr>
              <a:t>Principais Insights da Análise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31ADC1-FD7A-550A-6441-10EFE8347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2890" y="1101213"/>
            <a:ext cx="7905136" cy="5756787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/>
          </a:p>
          <a:p>
            <a:pPr algn="just">
              <a:lnSpc>
                <a:spcPct val="150000"/>
              </a:lnSpc>
            </a:pPr>
            <a:r>
              <a:rPr lang="pt-BR" sz="1200" b="1" dirty="0">
                <a:solidFill>
                  <a:srgbClr val="00B0F0"/>
                </a:solidFill>
              </a:rPr>
              <a:t>•  </a:t>
            </a:r>
            <a:r>
              <a:rPr lang="pt-BR" sz="1200" b="1" dirty="0"/>
              <a:t>Observa-se melhora consistente no IAN ao longo dos anos, com aumento significativo de alunos em nível adequado (de 259 em 2022 para 622 em 2024) e redução dos casos mais críticos de defasagem;</a:t>
            </a:r>
          </a:p>
          <a:p>
            <a:pPr algn="just">
              <a:lnSpc>
                <a:spcPct val="150000"/>
              </a:lnSpc>
            </a:pPr>
            <a:r>
              <a:rPr lang="pt-BR" sz="1200" b="1" dirty="0">
                <a:solidFill>
                  <a:srgbClr val="00B0F0"/>
                </a:solidFill>
              </a:rPr>
              <a:t>•  </a:t>
            </a:r>
            <a:r>
              <a:rPr lang="pt-BR" sz="1200" b="1" dirty="0"/>
              <a:t>O desempenho acadêmico (IDA) é um dos principais fatores associados à redução da defasagem, influenciando diretamente o IAN;</a:t>
            </a:r>
          </a:p>
          <a:p>
            <a:pPr algn="just">
              <a:lnSpc>
                <a:spcPct val="150000"/>
              </a:lnSpc>
            </a:pPr>
            <a:r>
              <a:rPr lang="pt-BR" sz="1200" b="1" dirty="0">
                <a:solidFill>
                  <a:srgbClr val="00B0F0"/>
                </a:solidFill>
              </a:rPr>
              <a:t>•</a:t>
            </a:r>
            <a:r>
              <a:rPr lang="pt-BR" sz="1200" b="1" dirty="0"/>
              <a:t>  O engajamento (IEG) atua como um dos principais motores do desempenho e da evolução dos alunos;  </a:t>
            </a:r>
          </a:p>
          <a:p>
            <a:pPr algn="just">
              <a:lnSpc>
                <a:spcPct val="150000"/>
              </a:lnSpc>
            </a:pPr>
            <a:r>
              <a:rPr lang="pt-BR" sz="1200" b="1" dirty="0">
                <a:solidFill>
                  <a:srgbClr val="00B0F0"/>
                </a:solidFill>
              </a:rPr>
              <a:t>•</a:t>
            </a:r>
            <a:r>
              <a:rPr lang="pt-BR" sz="1200" b="1" dirty="0"/>
              <a:t>  O ponto de virada (IPV) está diretamente relacionado ao desempenho global (INDE), indicando o papel da evolução do aluno nos resultados;</a:t>
            </a:r>
          </a:p>
          <a:p>
            <a:pPr algn="just">
              <a:lnSpc>
                <a:spcPct val="150000"/>
              </a:lnSpc>
            </a:pPr>
            <a:r>
              <a:rPr lang="pt-BR" sz="1200" b="1" dirty="0">
                <a:solidFill>
                  <a:srgbClr val="00B0F0"/>
                </a:solidFill>
              </a:rPr>
              <a:t>•</a:t>
            </a:r>
            <a:r>
              <a:rPr lang="pt-BR" sz="1200" b="1" dirty="0"/>
              <a:t>  O desempenho global é resultado da combinação de múltiplos fatores (IDA, IEG, IPV e IPP), e não de variáveis isoladas;</a:t>
            </a:r>
          </a:p>
          <a:p>
            <a:pPr algn="just">
              <a:lnSpc>
                <a:spcPct val="150000"/>
              </a:lnSpc>
            </a:pPr>
            <a:r>
              <a:rPr lang="pt-BR" sz="1200" b="1" dirty="0">
                <a:solidFill>
                  <a:srgbClr val="00B0F0"/>
                </a:solidFill>
              </a:rPr>
              <a:t>•</a:t>
            </a:r>
            <a:r>
              <a:rPr lang="pt-BR" sz="1200" b="1" dirty="0"/>
              <a:t>  A autoavaliação (IAA) não reflete de forma consistente o desempenho real dos alunos; </a:t>
            </a:r>
          </a:p>
          <a:p>
            <a:pPr algn="just">
              <a:lnSpc>
                <a:spcPct val="150000"/>
              </a:lnSpc>
            </a:pPr>
            <a:r>
              <a:rPr lang="pt-BR" sz="1200" b="1" dirty="0">
                <a:solidFill>
                  <a:srgbClr val="00B0F0"/>
                </a:solidFill>
              </a:rPr>
              <a:t>•  </a:t>
            </a:r>
            <a:r>
              <a:rPr lang="pt-BR" sz="1200" b="1" dirty="0"/>
              <a:t>Fatores psicossociais (IPS), analisados isoladamente, apresentam baixo poder explicativo;</a:t>
            </a:r>
          </a:p>
          <a:p>
            <a:pPr algn="just">
              <a:lnSpc>
                <a:spcPct val="150000"/>
              </a:lnSpc>
            </a:pPr>
            <a:r>
              <a:rPr lang="pt-BR" sz="1200" b="1" dirty="0">
                <a:solidFill>
                  <a:srgbClr val="00B0F0"/>
                </a:solidFill>
              </a:rPr>
              <a:t>•  </a:t>
            </a:r>
            <a:r>
              <a:rPr lang="pt-BR" sz="1200" b="1" dirty="0"/>
              <a:t>A avaliação psicopedagógica (IPP) apresenta baixa capacidade de diferenciar níveis de defasagem;  </a:t>
            </a:r>
          </a:p>
          <a:p>
            <a:pPr algn="just">
              <a:lnSpc>
                <a:spcPct val="150000"/>
              </a:lnSpc>
            </a:pPr>
            <a:r>
              <a:rPr lang="pt-BR" sz="1200" b="1" dirty="0">
                <a:solidFill>
                  <a:srgbClr val="00B0F0"/>
                </a:solidFill>
              </a:rPr>
              <a:t>•</a:t>
            </a:r>
            <a:r>
              <a:rPr lang="pt-BR" sz="1200" b="1" dirty="0"/>
              <a:t>  O programa demonstra evolução consistente ao longo das fases, indicando impacto positivo no desenvolvimento dos alunos.</a:t>
            </a:r>
          </a:p>
          <a:p>
            <a:pPr algn="l"/>
            <a:endParaRPr lang="pt-BR" sz="1400" dirty="0"/>
          </a:p>
          <a:p>
            <a:pPr algn="l"/>
            <a:endParaRPr lang="pt-BR" sz="1200" b="1" dirty="0"/>
          </a:p>
          <a:p>
            <a:pPr algn="l"/>
            <a:endParaRPr lang="pt-BR" sz="1100" b="1" dirty="0"/>
          </a:p>
          <a:p>
            <a:pPr algn="l"/>
            <a:endParaRPr lang="pt-BR" sz="1100" b="1" dirty="0"/>
          </a:p>
          <a:p>
            <a:pPr algn="l"/>
            <a:endParaRPr lang="pt-BR" sz="1050" b="1" dirty="0"/>
          </a:p>
          <a:p>
            <a:pPr algn="l"/>
            <a:br>
              <a:rPr lang="pt-BR" sz="1050" b="1" dirty="0"/>
            </a:br>
            <a:br>
              <a:rPr lang="pt-BR" sz="1400" b="1" dirty="0"/>
            </a:br>
            <a:endParaRPr lang="pt-BR" sz="11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dirty="0"/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B8835268-998E-4641-0922-9C6C91162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1834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E9DB3-E596-B32A-C585-2B3A7BC58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DD3BA-67A8-5F5E-B604-B20B82D0F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2321" y="430177"/>
            <a:ext cx="6125497" cy="499133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800" b="1" dirty="0"/>
              <a:t>Recomendações para melhoria do programa</a:t>
            </a:r>
            <a:endParaRPr lang="pt-BR" sz="18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0A3E26-6D65-DF13-A64F-39F254E6E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2555" y="1344546"/>
            <a:ext cx="7875640" cy="5083277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200" b="1" dirty="0">
              <a:solidFill>
                <a:srgbClr val="00B0F0"/>
              </a:solidFill>
            </a:endParaRPr>
          </a:p>
          <a:p>
            <a:pPr algn="l"/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Adotar uma abordagem integrada, combinando desempenho acadêmico (IDA), engajamento (IEG) e evolução (IPV) nas estratégias pedagógicas;</a:t>
            </a:r>
            <a:br>
              <a:rPr lang="pt-BR" sz="1200" b="1" dirty="0"/>
            </a:br>
            <a:br>
              <a:rPr lang="pt-BR" sz="1200" b="1" dirty="0"/>
            </a:b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Utilizar o modelo preditivo para identificar e priorizar alunos com maior risco de defasagem, permitindo atuação preventiva;</a:t>
            </a:r>
            <a:br>
              <a:rPr lang="pt-BR" sz="1200" b="1" dirty="0"/>
            </a:br>
            <a:br>
              <a:rPr lang="pt-BR" sz="1200" b="1" dirty="0"/>
            </a:b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Reforçar o acompanhamento de alunos com defasagem moderada (IAN), evitando a progressão para níveis mais críticos;</a:t>
            </a:r>
            <a:br>
              <a:rPr lang="pt-BR" sz="1200" b="1" dirty="0"/>
            </a:br>
            <a:br>
              <a:rPr lang="pt-BR" sz="1200" b="1" dirty="0"/>
            </a:b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Revisar e aprimorar os critérios da avaliação psicopedagógica (IPP), visando maior alinhamento com o desempenho real dos alunos;</a:t>
            </a:r>
            <a:br>
              <a:rPr lang="pt-BR" sz="1200" b="1" dirty="0"/>
            </a:br>
            <a:br>
              <a:rPr lang="pt-BR" sz="1200" b="1" dirty="0"/>
            </a:b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Utilizar a autoavaliação (IAA) como instrumento complementar, e não como indicador central de desempenho;</a:t>
            </a:r>
            <a:br>
              <a:rPr lang="pt-BR" sz="1200" b="1" dirty="0"/>
            </a:br>
            <a:br>
              <a:rPr lang="pt-BR" sz="1200" b="1" dirty="0"/>
            </a:b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Intensificar ações em contextos mais vulneráveis (ex.: rede pública e vulnerabilidade social), onde há maior concentração de defasagem;</a:t>
            </a:r>
            <a:br>
              <a:rPr lang="pt-BR" sz="1200" b="1" dirty="0"/>
            </a:br>
            <a:br>
              <a:rPr lang="pt-BR" sz="1200" b="1" dirty="0"/>
            </a:b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Expandir iniciativas de apoio educacional (ex.: bolsas e apadrinhamento), associadas a melhores resultados.</a:t>
            </a:r>
            <a:br>
              <a:rPr lang="pt-BR" sz="1200" b="1" dirty="0"/>
            </a:br>
            <a:endParaRPr lang="pt-BR" sz="1200" b="1" dirty="0"/>
          </a:p>
          <a:p>
            <a:pPr algn="l"/>
            <a:endParaRPr lang="pt-BR" sz="1100" b="1" dirty="0"/>
          </a:p>
          <a:p>
            <a:pPr algn="l"/>
            <a:endParaRPr lang="pt-BR" sz="1100" b="1" dirty="0"/>
          </a:p>
          <a:p>
            <a:pPr algn="l"/>
            <a:endParaRPr lang="pt-BR" sz="1050" b="1" dirty="0"/>
          </a:p>
          <a:p>
            <a:pPr algn="l"/>
            <a:br>
              <a:rPr lang="pt-BR" sz="1050" b="1" dirty="0"/>
            </a:br>
            <a:br>
              <a:rPr lang="pt-BR" sz="1400" b="1" dirty="0"/>
            </a:br>
            <a:endParaRPr lang="pt-BR" sz="11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dirty="0"/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718F3026-3A64-13B7-C422-6C7E7443E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118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82E"/>
      </a:dk2>
      <a:lt2>
        <a:srgbClr val="C2F5FC"/>
      </a:lt2>
      <a:accent1>
        <a:srgbClr val="4091F3"/>
      </a:accent1>
      <a:accent2>
        <a:srgbClr val="8BBCF1"/>
      </a:accent2>
      <a:accent3>
        <a:srgbClr val="CB6A6A"/>
      </a:accent3>
      <a:accent4>
        <a:srgbClr val="C567AF"/>
      </a:accent4>
      <a:accent5>
        <a:srgbClr val="A684F9"/>
      </a:accent5>
      <a:accent6>
        <a:srgbClr val="A9ACEE"/>
      </a:accent6>
      <a:hlink>
        <a:srgbClr val="6D9CC5"/>
      </a:hlink>
      <a:folHlink>
        <a:srgbClr val="6D82A0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178B2DAB-5DDE-4060-A857-D2E1CDA925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960</TotalTime>
  <Words>3033</Words>
  <Application>Microsoft Office PowerPoint</Application>
  <PresentationFormat>Widescreen</PresentationFormat>
  <Paragraphs>434</Paragraphs>
  <Slides>37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3" baseType="lpstr">
      <vt:lpstr>Arial</vt:lpstr>
      <vt:lpstr>Calibri</vt:lpstr>
      <vt:lpstr>MS Shell Dlg 2</vt:lpstr>
      <vt:lpstr>Wingdings</vt:lpstr>
      <vt:lpstr>Wingdings 3</vt:lpstr>
      <vt:lpstr>Madison</vt:lpstr>
      <vt:lpstr>Datathon FIAP – Associação Passos Mágicos</vt:lpstr>
      <vt:lpstr> Sobre a Associação Passos Mágicos</vt:lpstr>
      <vt:lpstr> Desafio de Negócio </vt:lpstr>
      <vt:lpstr>Oportunidade com Dados</vt:lpstr>
      <vt:lpstr>   Objetivo do Projeto</vt:lpstr>
      <vt:lpstr> Análise Exploratória dos Dados    </vt:lpstr>
      <vt:lpstr> Perfil Geral de Defasagem dos Alunos (IAN)    </vt:lpstr>
      <vt:lpstr> Evolução da Defasagem ao Longo do Tempo    </vt:lpstr>
      <vt:lpstr> Distribuição do IAN por Ano    </vt:lpstr>
      <vt:lpstr> Evolução do Indicador de Desempenho Acadêmico (IDA)    </vt:lpstr>
      <vt:lpstr> Distribuição do Desempenho Acadêmico (IDA)    </vt:lpstr>
      <vt:lpstr>Desempenho Acadêmico por Fase</vt:lpstr>
      <vt:lpstr> Impacto do Engajamento no Desempenho Acadêmico (IEG vs IDA) </vt:lpstr>
      <vt:lpstr>Impacto do Engajamento no Ponto de Virada (IEG vs IPV)</vt:lpstr>
      <vt:lpstr> Impacto do Engajamento no Desempenho e Evolução dos Alunos </vt:lpstr>
      <vt:lpstr> Correlação entre Engajamento, Desempenho e Evolução </vt:lpstr>
      <vt:lpstr>Correlação entre Autoavaliação e Desempenho (IAA vs IDA/IEG)</vt:lpstr>
      <vt:lpstr>As Autoavaliações dos alunos (IAA) são coerentes com o desempenho real (IDA) e engajamento (IEG) ?</vt:lpstr>
      <vt:lpstr>Relação entre fatores psicossociais e quedas de desempenho acadêmico e engajamento</vt:lpstr>
      <vt:lpstr>IPS vs Desempenho Futuro e IPS vs Engajamento Futuro</vt:lpstr>
      <vt:lpstr>Distribuição do IDA e IEG Futuros por Faixas de IPS</vt:lpstr>
      <vt:lpstr>Relação entre Avaliação Psicopedagógica (IPP) e Defasagem (IAN)</vt:lpstr>
      <vt:lpstr> Avaliação Psicopedagógica Média por Níveis de Defasagem </vt:lpstr>
      <vt:lpstr>Distribuição do IPP por Nível de Defasagem</vt:lpstr>
      <vt:lpstr>Fatores que mais influenciam o ponto de virada (IPV)</vt:lpstr>
      <vt:lpstr> Indicadores acadêmicos e comportamentais que elevam o ponto de virada </vt:lpstr>
      <vt:lpstr>Relação entre o Índice de Desenvolvimento Educacional (INDE)  e os demais indicadores</vt:lpstr>
      <vt:lpstr>Combinações de Indicadores que mais elevam a nota global do aluno (INDE)</vt:lpstr>
      <vt:lpstr>Evolução do desempenho global ao longo das fases do programa</vt:lpstr>
      <vt:lpstr>Distribuição do INDE nas diferentes fases</vt:lpstr>
      <vt:lpstr>Evolução dos principais indicadores ao longo das fases</vt:lpstr>
      <vt:lpstr>Análises Complementares</vt:lpstr>
      <vt:lpstr>Modelo preditivo para identificação de risco de defasagem</vt:lpstr>
      <vt:lpstr>Resultados do Modelo</vt:lpstr>
      <vt:lpstr> Aplicação operacional para identificação antecipada de risco </vt:lpstr>
      <vt:lpstr>Principais Insights da Análise</vt:lpstr>
      <vt:lpstr>Recomendações para melhoria do programa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Pardono</dc:creator>
  <cp:lastModifiedBy>Ricardo Pardono</cp:lastModifiedBy>
  <cp:revision>728</cp:revision>
  <dcterms:created xsi:type="dcterms:W3CDTF">2026-02-20T14:05:46Z</dcterms:created>
  <dcterms:modified xsi:type="dcterms:W3CDTF">2026-04-24T13:01:06Z</dcterms:modified>
</cp:coreProperties>
</file>